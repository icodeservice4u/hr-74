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E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73152" cy="6858000"/>
          </a:xfrm>
          <a:prstGeom prst="rect">
            <a:avLst/>
          </a:prstGeom>
          <a:solidFill>
            <a:srgbClr val="00B5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TROUTLY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1264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A6B3CC"/>
                </a:solidFill>
                <a:latin typeface="Inter"/>
                <a:ea typeface="Inter"/>
                <a:cs typeface="Inter"/>
              </a:rPr>
              <a:t>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103120"/>
            <a:ext cx="71323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4400" b="1">
                <a:solidFill>
                  <a:srgbClr val="0E1B33"/>
                </a:solidFill>
                <a:latin typeface="Helvetica Neue"/>
                <a:ea typeface="Helvetica Neue"/>
                <a:cs typeface="Helvetica Neue"/>
              </a:rPr>
              <a:t>Board of Directors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880360"/>
            <a:ext cx="7132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3200">
                <a:solidFill>
                  <a:srgbClr val="007A6A"/>
                </a:solidFill>
                <a:latin typeface="Helvetica Neue"/>
                <a:ea typeface="Helvetica Neue"/>
                <a:cs typeface="Helvetica Neue"/>
              </a:rPr>
              <a:t>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977639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F2937"/>
                </a:solidFill>
                <a:latin typeface="Inter"/>
                <a:ea typeface="Inter"/>
                <a:cs typeface="Inter"/>
              </a:rPr>
              <a:t>Troutly Analytics, Inc.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34340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5B6B86"/>
                </a:solidFill>
                <a:latin typeface="Inter"/>
                <a:ea typeface="Inter"/>
                <a:cs typeface="Inter"/>
              </a:rPr>
              <a:t>Meeting date: 07/16/2026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4937760"/>
            <a:ext cx="2286000" cy="9000"/>
          </a:xfrm>
          <a:prstGeom prst="rect">
            <a:avLst/>
          </a:prstGeom>
          <a:solidFill>
            <a:srgbClr val="00B5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4572000" y="5074920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5B6B86"/>
                </a:solidFill>
                <a:latin typeface="Inter"/>
                <a:ea typeface="Inter"/>
                <a:cs typeface="Inter"/>
              </a:rPr>
              <a:t>PREPARED 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39496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1F2937"/>
                </a:solidFill>
                <a:latin typeface="Inter"/>
                <a:ea typeface="Inter"/>
                <a:cs typeface="Inter"/>
              </a:rPr>
              <a:t>Michael Labeson, Chief Executive Officer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5742432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1F2937"/>
                </a:solidFill>
                <a:latin typeface="Inter"/>
                <a:ea typeface="Inter"/>
                <a:cs typeface="Inter"/>
              </a:rPr>
              <a:t>Krystale Jumawan, Finance Manager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0E1B33"/>
                </a:solidFill>
                <a:latin typeface="Helvetica Neue"/>
                <a:ea typeface="Helvetica Neue"/>
                <a:cs typeface="Helvetica Neue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1400" i="0">
                <a:solidFill>
                  <a:srgbClr val="5B6B86"/>
                </a:solidFill>
                <a:latin typeface="Inter"/>
                <a:ea typeface="Inter"/>
                <a:cs typeface="Inter"/>
              </a:rPr>
              <a:t>Board of Directors meeting — 07/16/2026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486400" cy="45720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2000" b="1">
                <a:solidFill>
                  <a:srgbClr val="007A6A"/>
                </a:solidFill>
                <a:latin typeface="Helvetica Neue"/>
                <a:ea typeface="Helvetica Neue"/>
                <a:cs typeface="Helvetica Neue"/>
              </a:rPr>
              <a:t>01   </a:t>
            </a:r>
            <a:r>
              <a:rPr sz="1800">
                <a:solidFill>
                  <a:srgbClr val="1F2937"/>
                </a:solidFill>
                <a:latin typeface="Inter"/>
                <a:ea typeface="Inter"/>
                <a:cs typeface="Inter"/>
              </a:rPr>
              <a:t>Financial highlights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2000" b="1">
                <a:solidFill>
                  <a:srgbClr val="007A6A"/>
                </a:solidFill>
                <a:latin typeface="Helvetica Neue"/>
                <a:ea typeface="Helvetica Neue"/>
                <a:cs typeface="Helvetica Neue"/>
              </a:rPr>
              <a:t>02   </a:t>
            </a:r>
            <a:r>
              <a:rPr sz="1800">
                <a:solidFill>
                  <a:srgbClr val="1F2937"/>
                </a:solidFill>
                <a:latin typeface="Inter"/>
                <a:ea typeface="Inter"/>
                <a:cs typeface="Inter"/>
              </a:rPr>
              <a:t>People metrics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2000" b="1">
                <a:solidFill>
                  <a:srgbClr val="007A6A"/>
                </a:solidFill>
                <a:latin typeface="Helvetica Neue"/>
                <a:ea typeface="Helvetica Neue"/>
                <a:cs typeface="Helvetica Neue"/>
              </a:rPr>
              <a:t>03   </a:t>
            </a:r>
            <a:r>
              <a:rPr sz="1800">
                <a:solidFill>
                  <a:srgbClr val="1F2937"/>
                </a:solidFill>
                <a:latin typeface="Inter"/>
                <a:ea typeface="Inter"/>
                <a:cs typeface="Inter"/>
              </a:rPr>
              <a:t>Product update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2000" b="1">
                <a:solidFill>
                  <a:srgbClr val="007A6A"/>
                </a:solidFill>
                <a:latin typeface="Helvetica Neue"/>
                <a:ea typeface="Helvetica Neue"/>
                <a:cs typeface="Helvetica Neue"/>
              </a:rPr>
              <a:t>04   </a:t>
            </a:r>
            <a:r>
              <a:rPr sz="180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Finance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2000" b="1">
                <a:solidFill>
                  <a:srgbClr val="007A6A"/>
                </a:solidFill>
                <a:latin typeface="Helvetica Neue"/>
                <a:ea typeface="Helvetica Neue"/>
                <a:cs typeface="Helvetica Neue"/>
              </a:rPr>
              <a:t>05   </a:t>
            </a:r>
            <a:r>
              <a:rPr sz="1800">
                <a:solidFill>
                  <a:srgbClr val="1F2937"/>
                </a:solidFill>
                <a:latin typeface="Inter"/>
                <a:ea typeface="Inter"/>
                <a:cs typeface="Inter"/>
              </a:rPr>
              <a:t>Customer metrics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2000" b="1">
                <a:solidFill>
                  <a:srgbClr val="007A6A"/>
                </a:solidFill>
                <a:latin typeface="Helvetica Neue"/>
                <a:ea typeface="Helvetica Neue"/>
                <a:cs typeface="Helvetica Neue"/>
              </a:rPr>
              <a:t>06   </a:t>
            </a:r>
            <a:r>
              <a:rPr sz="1800">
                <a:solidFill>
                  <a:srgbClr val="1F2937"/>
                </a:solidFill>
                <a:latin typeface="Inter"/>
                <a:ea typeface="Inter"/>
                <a:cs typeface="Inter"/>
              </a:rPr>
              <a:t>Sales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737360"/>
            <a:ext cx="5486400" cy="45720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2000" b="1">
                <a:solidFill>
                  <a:srgbClr val="007A6A"/>
                </a:solidFill>
                <a:latin typeface="Helvetica Neue"/>
                <a:ea typeface="Helvetica Neue"/>
                <a:cs typeface="Helvetica Neue"/>
              </a:rPr>
              <a:t>07   </a:t>
            </a:r>
            <a:r>
              <a:rPr sz="1800">
                <a:solidFill>
                  <a:srgbClr val="1F2937"/>
                </a:solidFill>
                <a:latin typeface="Inter"/>
                <a:ea typeface="Inter"/>
                <a:cs typeface="Inter"/>
              </a:rPr>
              <a:t>Hiring plan — second half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2000" b="1">
                <a:solidFill>
                  <a:srgbClr val="007A6A"/>
                </a:solidFill>
                <a:latin typeface="Helvetica Neue"/>
                <a:ea typeface="Helvetica Neue"/>
                <a:cs typeface="Helvetica Neue"/>
              </a:rPr>
              <a:t>08   </a:t>
            </a:r>
            <a:r>
              <a:rPr sz="1800">
                <a:solidFill>
                  <a:srgbClr val="1F2937"/>
                </a:solidFill>
                <a:latin typeface="Inter"/>
                <a:ea typeface="Inter"/>
                <a:cs typeface="Inter"/>
              </a:rPr>
              <a:t>Marketing update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2000" b="1">
                <a:solidFill>
                  <a:srgbClr val="007A6A"/>
                </a:solidFill>
                <a:latin typeface="Helvetica Neue"/>
                <a:ea typeface="Helvetica Neue"/>
                <a:cs typeface="Helvetica Neue"/>
              </a:rPr>
              <a:t>09   </a:t>
            </a:r>
            <a:r>
              <a:rPr sz="180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HRIS Cutover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2000" b="1">
                <a:solidFill>
                  <a:srgbClr val="007A6A"/>
                </a:solidFill>
                <a:latin typeface="Helvetica Neue"/>
                <a:ea typeface="Helvetica Neue"/>
                <a:cs typeface="Helvetica Neue"/>
              </a:rPr>
              <a:t>10   </a:t>
            </a:r>
            <a:r>
              <a:rPr sz="1800">
                <a:solidFill>
                  <a:srgbClr val="1F2937"/>
                </a:solidFill>
                <a:latin typeface="Inter"/>
                <a:ea typeface="Inter"/>
                <a:cs typeface="Inter"/>
              </a:rPr>
              <a:t>Risks and mitigations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2000" b="1">
                <a:solidFill>
                  <a:srgbClr val="007A6A"/>
                </a:solidFill>
                <a:latin typeface="Helvetica Neue"/>
                <a:ea typeface="Helvetica Neue"/>
                <a:cs typeface="Helvetica Neue"/>
              </a:rPr>
              <a:t>11   </a:t>
            </a:r>
            <a:r>
              <a:rPr sz="1800">
                <a:solidFill>
                  <a:srgbClr val="1F2937"/>
                </a:solidFill>
                <a:latin typeface="Inter"/>
                <a:ea typeface="Inter"/>
                <a:cs typeface="Inter"/>
              </a:rPr>
              <a:t>Q3 priorities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2000" b="1">
                <a:solidFill>
                  <a:srgbClr val="007A6A"/>
                </a:solidFill>
                <a:latin typeface="Helvetica Neue"/>
                <a:ea typeface="Helvetica Neue"/>
                <a:cs typeface="Helvetica Neue"/>
              </a:rPr>
              <a:t>12   </a:t>
            </a:r>
            <a:r>
              <a:rPr sz="180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Appendix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7295" cy="6000"/>
          </a:xfrm>
          <a:prstGeom prst="rect">
            <a:avLst/>
          </a:prstGeom>
          <a:solidFill>
            <a:srgbClr val="E2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900">
                <a:solidFill>
                  <a:srgbClr val="5B6B86"/>
                </a:solidFill>
                <a:latin typeface="Inter"/>
                <a:ea typeface="Inter"/>
                <a:cs typeface="Inter"/>
              </a:rPr>
              <a:t>Troutly Analytics, Inc.  |  Board of Directors — July 2026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218895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>
                <a:solidFill>
                  <a:srgbClr val="5B6B86"/>
                </a:solidFill>
                <a:latin typeface="Inter"/>
                <a:ea typeface="Inter"/>
                <a:cs typeface="Inter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0E1B33"/>
                </a:solidFill>
                <a:latin typeface="Helvetica Neue"/>
                <a:ea typeface="Helvetica Neue"/>
                <a:cs typeface="Helvetica Neue"/>
              </a:rPr>
              <a:t>Financial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1400" i="0">
                <a:solidFill>
                  <a:srgbClr val="5B6B86"/>
                </a:solidFill>
                <a:latin typeface="Inter"/>
                <a:ea typeface="Inter"/>
                <a:cs typeface="Inter"/>
              </a:rPr>
              <a:t>Annual Recurring Revenue as of 06/30/2026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3931920" cy="1280160"/>
          </a:xfrm>
          <a:prstGeom prst="rect">
            <a:avLst/>
          </a:prstGeom>
          <a:solidFill>
            <a:srgbClr val="0E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B7C4DE"/>
                </a:solidFill>
                <a:latin typeface="Inter"/>
                <a:ea typeface="Inter"/>
                <a:cs typeface="Inter"/>
              </a:rPr>
              <a:t>ARR — 06/30/2026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374903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$8,100,000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508760"/>
            <a:ext cx="6949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0E1B33"/>
                </a:solidFill>
                <a:latin typeface="Inter"/>
                <a:ea typeface="Inter"/>
                <a:cs typeface="Inter"/>
              </a:rPr>
              <a:t>Quarterly ARR trend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754880" y="1874519"/>
          <a:ext cx="69494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474720"/>
              </a:tblGrid>
              <a:tr h="384048">
                <a:tc>
                  <a:txBody>
                    <a:bodyPr lIns="73152" rIns="73152" tIns="36576" bIns="36576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Quarter end</a:t>
                      </a:r>
                    </a:p>
                  </a:txBody>
                  <a:tcPr>
                    <a:solidFill>
                      <a:srgbClr val="0E1B33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28575" cap="flat" cmpd="sng" algn="ctr">
                      <a:solidFill>
                        <a:srgbClr val="00B59C"/>
                      </a:solidFill>
                    </a:lnB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ARR</a:t>
                      </a:r>
                    </a:p>
                  </a:txBody>
                  <a:tcPr>
                    <a:solidFill>
                      <a:srgbClr val="0E1B33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28575" cap="flat" cmpd="sng" algn="ctr">
                      <a:solidFill>
                        <a:srgbClr val="00B59C"/>
                      </a:solidFill>
                    </a:lnB>
                  </a:tcPr>
                </a:tc>
              </a:tr>
              <a:tr h="292608"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0E1B33"/>
                          </a:solidFill>
                          <a:latin typeface="Inter"/>
                          <a:ea typeface="Inter"/>
                          <a:cs typeface="Inter"/>
                        </a:rPr>
                        <a:t>09/30/2025</a:t>
                      </a:r>
                    </a:p>
                  </a:txBody>
                  <a:tcPr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 algn="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</a:rPr>
                        <a:t>$6,900,000.00</a:t>
                      </a:r>
                    </a:p>
                  </a:txBody>
                  <a:tcPr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</a:tr>
              <a:tr h="292608"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0E1B33"/>
                          </a:solidFill>
                          <a:latin typeface="Inter"/>
                          <a:ea typeface="Inter"/>
                          <a:cs typeface="Inter"/>
                        </a:rPr>
                        <a:t>12/31/2025</a:t>
                      </a:r>
                    </a:p>
                  </a:txBody>
                  <a:tcPr>
                    <a:solidFill>
                      <a:srgbClr val="F4F6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 algn="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</a:rPr>
                        <a:t>$7,300,000.00</a:t>
                      </a:r>
                    </a:p>
                  </a:txBody>
                  <a:tcPr>
                    <a:solidFill>
                      <a:srgbClr val="F4F6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</a:tr>
              <a:tr h="292608"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0E1B33"/>
                          </a:solidFill>
                          <a:latin typeface="Inter"/>
                          <a:ea typeface="Inter"/>
                          <a:cs typeface="Inter"/>
                        </a:rPr>
                        <a:t>03/31/2026</a:t>
                      </a:r>
                    </a:p>
                  </a:txBody>
                  <a:tcPr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 algn="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</a:rPr>
                        <a:t>$7,700,000.00</a:t>
                      </a:r>
                    </a:p>
                  </a:txBody>
                  <a:tcPr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</a:tr>
              <a:tr h="292608"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0E1B33"/>
                          </a:solidFill>
                          <a:latin typeface="Inter"/>
                          <a:ea typeface="Inter"/>
                          <a:cs typeface="Inter"/>
                        </a:rPr>
                        <a:t>06/30/2026</a:t>
                      </a:r>
                    </a:p>
                  </a:txBody>
                  <a:tcPr>
                    <a:solidFill>
                      <a:srgbClr val="F4F6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2E7F0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 algn="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</a:rPr>
                        <a:t>$8,100,000.00</a:t>
                      </a:r>
                    </a:p>
                  </a:txBody>
                  <a:tcPr>
                    <a:solidFill>
                      <a:srgbClr val="F4F6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2E7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3566160"/>
            <a:ext cx="11247120" cy="2743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>
                <a:solidFill>
                  <a:srgbClr val="007A6A"/>
                </a:solidFill>
                <a:latin typeface="Inter"/>
                <a:ea typeface="Inter"/>
                <a:cs typeface="Inter"/>
              </a:rPr>
              <a:t>•  </a:t>
            </a:r>
            <a:r>
              <a:rPr sz="1400" b="0">
                <a:solidFill>
                  <a:srgbClr val="1F2937"/>
                </a:solidFill>
                <a:latin typeface="Inter"/>
                <a:ea typeface="Inter"/>
                <a:cs typeface="Inter"/>
              </a:rPr>
              <a:t>Net new ARR of </a:t>
            </a:r>
            <a:r>
              <a:rPr sz="1400" b="1">
                <a:solidFill>
                  <a:srgbClr val="1F2937"/>
                </a:solidFill>
                <a:latin typeface="Inter"/>
                <a:ea typeface="Inter"/>
                <a:cs typeface="Inter"/>
              </a:rPr>
              <a:t>$400,000.00</a:t>
            </a:r>
            <a:r>
              <a:rPr sz="1400" b="0">
                <a:solidFill>
                  <a:srgbClr val="1F2937"/>
                </a:solidFill>
                <a:latin typeface="Inter"/>
                <a:ea typeface="Inter"/>
                <a:cs typeface="Inter"/>
              </a:rPr>
              <a:t> in Q2, driven by mid-market expansion.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>
                <a:solidFill>
                  <a:srgbClr val="007A6A"/>
                </a:solidFill>
                <a:latin typeface="Inter"/>
                <a:ea typeface="Inter"/>
                <a:cs typeface="Inter"/>
              </a:rPr>
              <a:t>•  </a:t>
            </a:r>
            <a:r>
              <a:rPr sz="1400" b="0">
                <a:solidFill>
                  <a:srgbClr val="1F2937"/>
                </a:solidFill>
                <a:latin typeface="Inter"/>
                <a:ea typeface="Inter"/>
                <a:cs typeface="Inter"/>
              </a:rPr>
              <a:t>Gross retention remains above </a:t>
            </a:r>
            <a:r>
              <a:rPr sz="1400" b="1">
                <a:solidFill>
                  <a:srgbClr val="1F2937"/>
                </a:solidFill>
                <a:latin typeface="Inter"/>
                <a:ea typeface="Inter"/>
                <a:cs typeface="Inter"/>
              </a:rPr>
              <a:t>92%</a:t>
            </a:r>
            <a:r>
              <a:rPr sz="1400" b="0">
                <a:solidFill>
                  <a:srgbClr val="1F2937"/>
                </a:solidFill>
                <a:latin typeface="Inter"/>
                <a:ea typeface="Inter"/>
                <a:cs typeface="Inter"/>
              </a:rPr>
              <a:t> on a trailing twelve-month basis.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>
                <a:solidFill>
                  <a:srgbClr val="007A6A"/>
                </a:solidFill>
                <a:latin typeface="Inter"/>
                <a:ea typeface="Inter"/>
                <a:cs typeface="Inter"/>
              </a:rPr>
              <a:t>•  </a:t>
            </a:r>
            <a:r>
              <a:rPr sz="1400" b="0">
                <a:solidFill>
                  <a:srgbClr val="1F2937"/>
                </a:solidFill>
                <a:latin typeface="Inter"/>
                <a:ea typeface="Inter"/>
                <a:cs typeface="Inter"/>
              </a:rPr>
              <a:t>Q2 bookings weighted toward the June close.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446520"/>
            <a:ext cx="11277295" cy="6000"/>
          </a:xfrm>
          <a:prstGeom prst="rect">
            <a:avLst/>
          </a:prstGeom>
          <a:solidFill>
            <a:srgbClr val="E2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900">
                <a:solidFill>
                  <a:srgbClr val="5B6B86"/>
                </a:solidFill>
                <a:latin typeface="Inter"/>
                <a:ea typeface="Inter"/>
                <a:cs typeface="Inter"/>
              </a:rPr>
              <a:t>Troutly Analytics, Inc.  |  Board of Directors — July 2026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10528"/>
            <a:ext cx="1218895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>
                <a:solidFill>
                  <a:srgbClr val="5B6B86"/>
                </a:solidFill>
                <a:latin typeface="Inter"/>
                <a:ea typeface="Inter"/>
                <a:cs typeface="Inter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0E1B33"/>
                </a:solidFill>
                <a:latin typeface="Helvetica Neue"/>
                <a:ea typeface="Helvetica Neue"/>
                <a:cs typeface="Helvetica Neue"/>
              </a:rPr>
              <a:t>People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1400" i="0">
                <a:solidFill>
                  <a:srgbClr val="5B6B86"/>
                </a:solidFill>
                <a:latin typeface="Inter"/>
                <a:ea typeface="Inter"/>
                <a:cs typeface="Inter"/>
              </a:rPr>
              <a:t>Headcount and workforce indicators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2377440" cy="1280160"/>
          </a:xfrm>
          <a:prstGeom prst="rect">
            <a:avLst/>
          </a:prstGeom>
          <a:solidFill>
            <a:srgbClr val="0E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B7C4DE"/>
                </a:solidFill>
                <a:latin typeface="Inter"/>
                <a:ea typeface="Inter"/>
                <a:cs typeface="Inter"/>
              </a:rPr>
              <a:t>HEADCOUNT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74519"/>
            <a:ext cx="2194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4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063240" y="1508760"/>
          <a:ext cx="4343400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600"/>
                <a:gridCol w="1447800"/>
              </a:tblGrid>
              <a:tr h="384048">
                <a:tc>
                  <a:txBody>
                    <a:bodyPr lIns="73152" rIns="73152" tIns="36576" bIns="36576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Metric</a:t>
                      </a:r>
                    </a:p>
                  </a:txBody>
                  <a:tcPr>
                    <a:solidFill>
                      <a:srgbClr val="0E1B33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28575" cap="flat" cmpd="sng" algn="ctr">
                      <a:solidFill>
                        <a:srgbClr val="00B59C"/>
                      </a:solidFill>
                    </a:lnB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Value</a:t>
                      </a:r>
                    </a:p>
                  </a:txBody>
                  <a:tcPr>
                    <a:solidFill>
                      <a:srgbClr val="0E1B33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28575" cap="flat" cmpd="sng" algn="ctr">
                      <a:solidFill>
                        <a:srgbClr val="00B59C"/>
                      </a:solidFill>
                    </a:lnB>
                  </a:tcPr>
                </a:tc>
              </a:tr>
              <a:tr h="310896"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0E1B33"/>
                          </a:solidFill>
                          <a:latin typeface="Inter"/>
                          <a:ea typeface="Inter"/>
                          <a:cs typeface="Inter"/>
                        </a:rPr>
                        <a:t>Active employees</a:t>
                      </a:r>
                    </a:p>
                  </a:txBody>
                  <a:tcPr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 algn="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</a:rP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</a:tr>
              <a:tr h="310896"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0E1B33"/>
                          </a:solidFill>
                          <a:latin typeface="Inter"/>
                          <a:ea typeface="Inter"/>
                          <a:cs typeface="Inter"/>
                        </a:rPr>
                        <a:t>Open requisitions</a:t>
                      </a:r>
                    </a:p>
                  </a:txBody>
                  <a:tcPr>
                    <a:solidFill>
                      <a:srgbClr val="F4F6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 algn="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</a:rPr>
                        <a:t>5</a:t>
                      </a:r>
                    </a:p>
                  </a:txBody>
                  <a:tcPr>
                    <a:solidFill>
                      <a:srgbClr val="F4F6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</a:tr>
              <a:tr h="310896"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0E1B33"/>
                          </a:solidFill>
                          <a:latin typeface="Inter"/>
                          <a:ea typeface="Inter"/>
                          <a:cs typeface="Inter"/>
                        </a:rPr>
                        <a:t>Voluntary attrition (TTM)</a:t>
                      </a:r>
                    </a:p>
                  </a:txBody>
                  <a:tcPr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 algn="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</a:rPr>
                        <a:t>8.1%</a:t>
                      </a:r>
                    </a:p>
                  </a:txBody>
                  <a:tcPr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</a:tr>
              <a:tr h="310896"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0E1B33"/>
                          </a:solidFill>
                          <a:latin typeface="Inter"/>
                          <a:ea typeface="Inter"/>
                          <a:cs typeface="Inter"/>
                        </a:rPr>
                        <a:t>Regretted attrition (TTM)</a:t>
                      </a:r>
                    </a:p>
                  </a:txBody>
                  <a:tcPr>
                    <a:solidFill>
                      <a:srgbClr val="F4F6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 algn="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</a:rPr>
                        <a:t>3.2%</a:t>
                      </a:r>
                    </a:p>
                  </a:txBody>
                  <a:tcPr>
                    <a:solidFill>
                      <a:srgbClr val="F4F6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</a:tr>
              <a:tr h="310896"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0E1B33"/>
                          </a:solidFill>
                          <a:latin typeface="Inter"/>
                          <a:ea typeface="Inter"/>
                          <a:cs typeface="Inter"/>
                        </a:rPr>
                        <a:t>Time-to-fill (90-day avg)</a:t>
                      </a:r>
                    </a:p>
                  </a:txBody>
                  <a:tcPr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2E7F0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 algn="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</a:rPr>
                        <a:t>41 days</a:t>
                      </a:r>
                    </a:p>
                  </a:txBody>
                  <a:tcPr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2E7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635240" y="150876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0E1B33"/>
                </a:solidFill>
                <a:latin typeface="Inter"/>
                <a:ea typeface="Inter"/>
                <a:cs typeface="Inter"/>
              </a:rPr>
              <a:t>Department mix (active headcount)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1874519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1F2937"/>
                </a:solidFill>
                <a:latin typeface="Inter"/>
                <a:ea typeface="Inter"/>
                <a:cs typeface="Inter"/>
              </a:rPr>
              <a:t>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1874519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0E1B33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2130552"/>
            <a:ext cx="3200400" cy="109728"/>
          </a:xfrm>
          <a:prstGeom prst="rect">
            <a:avLst/>
          </a:prstGeom>
          <a:solidFill>
            <a:srgbClr val="E2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13" name="Rectangle 12"/>
          <p:cNvSpPr/>
          <p:nvPr/>
        </p:nvSpPr>
        <p:spPr>
          <a:xfrm>
            <a:off x="7635240" y="2130552"/>
            <a:ext cx="3200400" cy="109728"/>
          </a:xfrm>
          <a:prstGeom prst="rect">
            <a:avLst/>
          </a:prstGeom>
          <a:solidFill>
            <a:srgbClr val="00B5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7635240" y="2423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1F2937"/>
                </a:solidFill>
                <a:latin typeface="Inter"/>
                <a:ea typeface="Inter"/>
                <a:cs typeface="Inter"/>
              </a:rPr>
              <a:t>Customer Success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24231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0E1B33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2679191"/>
            <a:ext cx="3200400" cy="109728"/>
          </a:xfrm>
          <a:prstGeom prst="rect">
            <a:avLst/>
          </a:prstGeom>
          <a:solidFill>
            <a:srgbClr val="E2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17" name="Rectangle 16"/>
          <p:cNvSpPr/>
          <p:nvPr/>
        </p:nvSpPr>
        <p:spPr>
          <a:xfrm>
            <a:off x="7635240" y="2679191"/>
            <a:ext cx="1852863" cy="109728"/>
          </a:xfrm>
          <a:prstGeom prst="rect">
            <a:avLst/>
          </a:prstGeom>
          <a:solidFill>
            <a:srgbClr val="00B5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7635240" y="2971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1F2937"/>
                </a:solidFill>
                <a:latin typeface="Inter"/>
                <a:ea typeface="Inter"/>
                <a:cs typeface="Inter"/>
              </a:rPr>
              <a:t>Sales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2971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0E1B33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35240" y="3227832"/>
            <a:ext cx="3200400" cy="109728"/>
          </a:xfrm>
          <a:prstGeom prst="rect">
            <a:avLst/>
          </a:prstGeom>
          <a:solidFill>
            <a:srgbClr val="E2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21" name="Rectangle 20"/>
          <p:cNvSpPr/>
          <p:nvPr/>
        </p:nvSpPr>
        <p:spPr>
          <a:xfrm>
            <a:off x="7635240" y="3227832"/>
            <a:ext cx="1347536" cy="109728"/>
          </a:xfrm>
          <a:prstGeom prst="rect">
            <a:avLst/>
          </a:prstGeom>
          <a:solidFill>
            <a:srgbClr val="00B5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7635240" y="35204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1F2937"/>
                </a:solidFill>
                <a:latin typeface="Inter"/>
                <a:ea typeface="Inter"/>
                <a:cs typeface="Inter"/>
              </a:rPr>
              <a:t>Marketing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35204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0E1B33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35240" y="3776472"/>
            <a:ext cx="3200400" cy="109728"/>
          </a:xfrm>
          <a:prstGeom prst="rect">
            <a:avLst/>
          </a:prstGeom>
          <a:solidFill>
            <a:srgbClr val="E2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25" name="Rectangle 24"/>
          <p:cNvSpPr/>
          <p:nvPr/>
        </p:nvSpPr>
        <p:spPr>
          <a:xfrm>
            <a:off x="7635240" y="3776472"/>
            <a:ext cx="842210" cy="109728"/>
          </a:xfrm>
          <a:prstGeom prst="rect">
            <a:avLst/>
          </a:prstGeom>
          <a:solidFill>
            <a:srgbClr val="00B5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7635240" y="40690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1F2937"/>
                </a:solidFill>
                <a:latin typeface="Inter"/>
                <a:ea typeface="Inter"/>
                <a:cs typeface="Inter"/>
              </a:rPr>
              <a:t>Product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40690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0E1B33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35240" y="4325112"/>
            <a:ext cx="3200400" cy="109728"/>
          </a:xfrm>
          <a:prstGeom prst="rect">
            <a:avLst/>
          </a:prstGeom>
          <a:solidFill>
            <a:srgbClr val="E2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29" name="Rectangle 28"/>
          <p:cNvSpPr/>
          <p:nvPr/>
        </p:nvSpPr>
        <p:spPr>
          <a:xfrm>
            <a:off x="7635240" y="4325112"/>
            <a:ext cx="673768" cy="109728"/>
          </a:xfrm>
          <a:prstGeom prst="rect">
            <a:avLst/>
          </a:prstGeom>
          <a:solidFill>
            <a:srgbClr val="00B5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7635240" y="4617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1F2937"/>
                </a:solidFill>
                <a:latin typeface="Inter"/>
                <a:ea typeface="Inter"/>
                <a:cs typeface="Inter"/>
              </a:rPr>
              <a:t>Finance and Corporate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46177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0E1B33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35240" y="4873752"/>
            <a:ext cx="3200400" cy="109728"/>
          </a:xfrm>
          <a:prstGeom prst="rect">
            <a:avLst/>
          </a:prstGeom>
          <a:solidFill>
            <a:srgbClr val="E2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33" name="Rectangle 32"/>
          <p:cNvSpPr/>
          <p:nvPr/>
        </p:nvSpPr>
        <p:spPr>
          <a:xfrm>
            <a:off x="7635240" y="4873752"/>
            <a:ext cx="842210" cy="109728"/>
          </a:xfrm>
          <a:prstGeom prst="rect">
            <a:avLst/>
          </a:prstGeom>
          <a:solidFill>
            <a:srgbClr val="00B5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000" i="1">
                <a:solidFill>
                  <a:srgbClr val="5B6B86"/>
                </a:solidFill>
                <a:latin typeface="Inter"/>
                <a:ea typeface="Inter"/>
                <a:cs typeface="Inter"/>
              </a:rPr>
              <a:t>Headcount per the HRIS, reconciled with People Operations 07/15/2026.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6446520"/>
            <a:ext cx="11277295" cy="6000"/>
          </a:xfrm>
          <a:prstGeom prst="rect">
            <a:avLst/>
          </a:prstGeom>
          <a:solidFill>
            <a:srgbClr val="E2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900">
                <a:solidFill>
                  <a:srgbClr val="5B6B86"/>
                </a:solidFill>
                <a:latin typeface="Inter"/>
                <a:ea typeface="Inter"/>
                <a:cs typeface="Inter"/>
              </a:rPr>
              <a:t>Troutly Analytics, Inc.  |  Board of Directors — July 2026  |  Confidential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510528"/>
            <a:ext cx="1218895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>
                <a:solidFill>
                  <a:srgbClr val="5B6B86"/>
                </a:solidFill>
                <a:latin typeface="Inter"/>
                <a:ea typeface="Inter"/>
                <a:cs typeface="Inter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0E1B33"/>
                </a:solidFill>
                <a:latin typeface="Helvetica Neue"/>
                <a:ea typeface="Helvetica Neue"/>
                <a:cs typeface="Helvetica Neue"/>
              </a:rPr>
              <a:t>Product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1400" i="0">
                <a:solidFill>
                  <a:srgbClr val="5B6B86"/>
                </a:solidFill>
                <a:latin typeface="Inter"/>
                <a:ea typeface="Inter"/>
                <a:cs typeface="Inter"/>
              </a:rPr>
              <a:t>Q2 2026 releases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73152" cy="1371600"/>
          </a:xfrm>
          <a:prstGeom prst="rect">
            <a:avLst/>
          </a:prstGeom>
          <a:solidFill>
            <a:srgbClr val="00B5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800" b="1">
                <a:solidFill>
                  <a:srgbClr val="0E1B33"/>
                </a:solidFill>
                <a:latin typeface="Inter"/>
                <a:ea typeface="Inter"/>
                <a:cs typeface="Inter"/>
              </a:rPr>
              <a:t>Attribution v3 — 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50">
                <a:solidFill>
                  <a:srgbClr val="1F2937"/>
                </a:solidFill>
                <a:latin typeface="Inter"/>
                <a:ea typeface="Inter"/>
                <a:cs typeface="Inter"/>
              </a:rPr>
              <a:t>General availability shipped 06/24/2026. Nine reference customers migrated in the first two weeks with no rollback tickets.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108960"/>
            <a:ext cx="73152" cy="1371600"/>
          </a:xfrm>
          <a:prstGeom prst="rect">
            <a:avLst/>
          </a:prstGeom>
          <a:solidFill>
            <a:srgbClr val="00B5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85800" y="31089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800" b="1">
                <a:solidFill>
                  <a:srgbClr val="0E1B33"/>
                </a:solidFill>
                <a:latin typeface="Inter"/>
                <a:ea typeface="Inter"/>
                <a:cs typeface="Inter"/>
              </a:rPr>
              <a:t>Brightmarl Ads connector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20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50">
                <a:solidFill>
                  <a:srgbClr val="1F2937"/>
                </a:solidFill>
                <a:latin typeface="Inter"/>
                <a:ea typeface="Inter"/>
                <a:cs typeface="Inter"/>
              </a:rPr>
              <a:t>Cleared beta and is now enabled for all paid tiers, closing the last of the four channel gaps identified in the Q1 customer advisory board.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617720"/>
            <a:ext cx="73152" cy="1371600"/>
          </a:xfrm>
          <a:prstGeom prst="rect">
            <a:avLst/>
          </a:prstGeom>
          <a:solidFill>
            <a:srgbClr val="00B5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85800" y="4617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800" b="1">
                <a:solidFill>
                  <a:srgbClr val="0E1B33"/>
                </a:solidFill>
                <a:latin typeface="Inter"/>
                <a:ea typeface="Inter"/>
                <a:cs typeface="Inter"/>
              </a:rPr>
              <a:t>Reporting workspace refresh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50">
                <a:solidFill>
                  <a:srgbClr val="1F2937"/>
                </a:solidFill>
                <a:latin typeface="Inter"/>
                <a:ea typeface="Inter"/>
                <a:cs typeface="Inter"/>
              </a:rPr>
              <a:t>In private preview with twelve design partners. Dashboard-load p95 latency down 38% versus the v2 baseline.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446520"/>
            <a:ext cx="11277295" cy="6000"/>
          </a:xfrm>
          <a:prstGeom prst="rect">
            <a:avLst/>
          </a:prstGeom>
          <a:solidFill>
            <a:srgbClr val="E2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900">
                <a:solidFill>
                  <a:srgbClr val="5B6B86"/>
                </a:solidFill>
                <a:latin typeface="Inter"/>
                <a:ea typeface="Inter"/>
                <a:cs typeface="Inter"/>
              </a:rPr>
              <a:t>Troutly Analytics, Inc.  |  Board of Directors — July 2026  | 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510528"/>
            <a:ext cx="1218895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>
                <a:solidFill>
                  <a:srgbClr val="5B6B86"/>
                </a:solidFill>
                <a:latin typeface="Inter"/>
                <a:ea typeface="Inter"/>
                <a:cs typeface="Inter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0E1B33"/>
                </a:solidFill>
                <a:latin typeface="Helvetica Neue"/>
                <a:ea typeface="Helvetica Neue"/>
                <a:cs typeface="Helvetica Neue"/>
              </a:rPr>
              <a:t>Finance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1400" i="0">
                <a:solidFill>
                  <a:srgbClr val="5B6B86"/>
                </a:solidFill>
                <a:latin typeface="Inter"/>
                <a:ea typeface="Inter"/>
                <a:cs typeface="Inter"/>
              </a:rPr>
              <a:t>Cash, burn, and runway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2743200" cy="118872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5B6B86"/>
                </a:solidFill>
                <a:latin typeface="Inter"/>
                <a:ea typeface="Inter"/>
                <a:cs typeface="Inter"/>
              </a:rPr>
              <a:t>Cash on hand (06/30/2026)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57400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0E1B33"/>
                </a:solidFill>
                <a:latin typeface="Helvetica Neue"/>
                <a:ea typeface="Helvetica Neue"/>
                <a:cs typeface="Helvetica Neue"/>
              </a:rPr>
              <a:t>$9,824,000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508760"/>
            <a:ext cx="2743200" cy="118872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3429000" y="1600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5B6B86"/>
                </a:solidFill>
                <a:latin typeface="Inter"/>
                <a:ea typeface="Inter"/>
                <a:cs typeface="Inter"/>
              </a:rPr>
              <a:t>Monthly burn (Q2 avg)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057400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0E1B33"/>
                </a:solidFill>
                <a:latin typeface="Helvetica Neue"/>
                <a:ea typeface="Helvetica Neue"/>
                <a:cs typeface="Helvetica Neue"/>
              </a:rPr>
              <a:t>$610,240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508760"/>
            <a:ext cx="2743200" cy="118872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263640" y="1600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5B6B86"/>
                </a:solidFill>
                <a:latin typeface="Inter"/>
                <a:ea typeface="Inter"/>
                <a:cs typeface="Inter"/>
              </a:rPr>
              <a:t>Runway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057400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0E1B33"/>
                </a:solidFill>
                <a:latin typeface="Helvetica Neue"/>
                <a:ea typeface="Helvetica Neue"/>
                <a:cs typeface="Helvetica Neue"/>
              </a:rPr>
              <a:t>16.1 mo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508760"/>
            <a:ext cx="2743200" cy="118872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9098280" y="1600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5B6B86"/>
                </a:solidFill>
                <a:latin typeface="Inter"/>
                <a:ea typeface="Inter"/>
                <a:cs typeface="Inter"/>
              </a:rPr>
              <a:t>Net burn multiple (Q2)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057400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0E1B33"/>
                </a:solidFill>
                <a:latin typeface="Helvetica Neue"/>
                <a:ea typeface="Helvetica Neue"/>
                <a:cs typeface="Helvetica Neue"/>
              </a:rPr>
              <a:t>4.6x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2880360"/>
          <a:ext cx="5486400" cy="1847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</a:tblGrid>
              <a:tr h="384048">
                <a:tc>
                  <a:txBody>
                    <a:bodyPr lIns="73152" rIns="73152" tIns="36576" bIns="36576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Metric</a:t>
                      </a:r>
                    </a:p>
                  </a:txBody>
                  <a:tcPr>
                    <a:solidFill>
                      <a:srgbClr val="0E1B33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28575" cap="flat" cmpd="sng" algn="ctr">
                      <a:solidFill>
                        <a:srgbClr val="00B59C"/>
                      </a:solidFill>
                    </a:lnB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Value</a:t>
                      </a:r>
                    </a:p>
                  </a:txBody>
                  <a:tcPr>
                    <a:solidFill>
                      <a:srgbClr val="0E1B33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28575" cap="flat" cmpd="sng" algn="ctr">
                      <a:solidFill>
                        <a:srgbClr val="00B59C"/>
                      </a:solidFill>
                    </a:lnB>
                  </a:tcPr>
                </a:tc>
              </a:tr>
              <a:tr h="292608"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0E1B33"/>
                          </a:solidFill>
                          <a:latin typeface="Inter"/>
                          <a:ea typeface="Inter"/>
                          <a:cs typeface="Inter"/>
                        </a:rPr>
                        <a:t>Cash on hand (06/30/2026)</a:t>
                      </a:r>
                    </a:p>
                  </a:txBody>
                  <a:tcPr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 algn="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</a:rPr>
                        <a:t>$9,824,000.00</a:t>
                      </a:r>
                    </a:p>
                  </a:txBody>
                  <a:tcPr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</a:tr>
              <a:tr h="292608"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0E1B33"/>
                          </a:solidFill>
                          <a:latin typeface="Inter"/>
                          <a:ea typeface="Inter"/>
                          <a:cs typeface="Inter"/>
                        </a:rPr>
                        <a:t>Monthly burn (Q2 avg)</a:t>
                      </a:r>
                    </a:p>
                  </a:txBody>
                  <a:tcPr>
                    <a:solidFill>
                      <a:srgbClr val="F4F6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 algn="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</a:rPr>
                        <a:t>$610,240.00</a:t>
                      </a:r>
                    </a:p>
                  </a:txBody>
                  <a:tcPr>
                    <a:solidFill>
                      <a:srgbClr val="F4F6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</a:tr>
              <a:tr h="292608"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0E1B33"/>
                          </a:solidFill>
                          <a:latin typeface="Inter"/>
                          <a:ea typeface="Inter"/>
                          <a:cs typeface="Inter"/>
                        </a:rPr>
                        <a:t>Runway</a:t>
                      </a:r>
                    </a:p>
                  </a:txBody>
                  <a:tcPr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</a:rPr>
                        <a:t>16.1 months</a:t>
                      </a:r>
                    </a:p>
                  </a:txBody>
                  <a:tcPr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</a:tr>
              <a:tr h="292608"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0E1B33"/>
                          </a:solidFill>
                          <a:latin typeface="Inter"/>
                          <a:ea typeface="Inter"/>
                          <a:cs typeface="Inter"/>
                        </a:rPr>
                        <a:t>ARR (06/30/2026)</a:t>
                      </a:r>
                    </a:p>
                  </a:txBody>
                  <a:tcPr>
                    <a:solidFill>
                      <a:srgbClr val="F4F6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 algn="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</a:rPr>
                        <a:t>$8,100,000.00</a:t>
                      </a:r>
                    </a:p>
                  </a:txBody>
                  <a:tcPr>
                    <a:solidFill>
                      <a:srgbClr val="F4F6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</a:tr>
              <a:tr h="292608"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0E1B33"/>
                          </a:solidFill>
                          <a:latin typeface="Inter"/>
                          <a:ea typeface="Inter"/>
                          <a:cs typeface="Inter"/>
                        </a:rPr>
                        <a:t>Net burn multiple (Q2)</a:t>
                      </a:r>
                    </a:p>
                  </a:txBody>
                  <a:tcPr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2E7F0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 algn="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</a:rPr>
                        <a:t>4.6</a:t>
                      </a:r>
                    </a:p>
                  </a:txBody>
                  <a:tcPr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2E7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8595360" y="2880360"/>
            <a:ext cx="3200400" cy="2743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50">
                <a:solidFill>
                  <a:srgbClr val="007A6A"/>
                </a:solidFill>
                <a:latin typeface="Inter"/>
                <a:ea typeface="Inter"/>
                <a:cs typeface="Inter"/>
              </a:rPr>
              <a:t>•  </a:t>
            </a:r>
            <a:r>
              <a:rPr sz="1150" b="0">
                <a:solidFill>
                  <a:srgbClr val="1F2937"/>
                </a:solidFill>
                <a:latin typeface="Inter"/>
                <a:ea typeface="Inter"/>
                <a:cs typeface="Inter"/>
              </a:rPr>
              <a:t>Cash of </a:t>
            </a:r>
            <a:r>
              <a:rPr sz="1150" b="1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$9,824,000</a:t>
            </a:r>
            <a:r>
              <a:rPr sz="1150" b="0">
                <a:solidFill>
                  <a:srgbClr val="1F2937"/>
                </a:solidFill>
                <a:latin typeface="Inter"/>
                <a:ea typeface="Inter"/>
                <a:cs typeface="Inter"/>
              </a:rPr>
              <a:t> as of 06/30/2026, after Q2 operating draw.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50">
                <a:solidFill>
                  <a:srgbClr val="007A6A"/>
                </a:solidFill>
                <a:latin typeface="Inter"/>
                <a:ea typeface="Inter"/>
                <a:cs typeface="Inter"/>
              </a:rPr>
              <a:t>•  </a:t>
            </a:r>
            <a:r>
              <a:rPr sz="1150" b="0">
                <a:solidFill>
                  <a:srgbClr val="1F2937"/>
                </a:solidFill>
                <a:latin typeface="Inter"/>
                <a:ea typeface="Inter"/>
                <a:cs typeface="Inter"/>
              </a:rPr>
              <a:t>Monthly burn of </a:t>
            </a:r>
            <a:r>
              <a:rPr sz="1150" b="1">
                <a:solidFill>
                  <a:srgbClr val="1F2937"/>
                </a:solidFill>
                <a:latin typeface="Inter"/>
                <a:ea typeface="Inter"/>
                <a:cs typeface="Inter"/>
              </a:rPr>
              <a:t>$610,240.00</a:t>
            </a:r>
            <a:r>
              <a:rPr sz="1150" b="0">
                <a:solidFill>
                  <a:srgbClr val="1F2937"/>
                </a:solidFill>
                <a:latin typeface="Inter"/>
                <a:ea typeface="Inter"/>
                <a:cs typeface="Inter"/>
              </a:rPr>
              <a:t> reflects the Q2 average across payroll, benefits, hosting, and G&amp;A.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50">
                <a:solidFill>
                  <a:srgbClr val="007A6A"/>
                </a:solidFill>
                <a:latin typeface="Inter"/>
                <a:ea typeface="Inter"/>
                <a:cs typeface="Inter"/>
              </a:rPr>
              <a:t>•  </a:t>
            </a:r>
            <a:r>
              <a:rPr sz="1150" b="0">
                <a:solidFill>
                  <a:srgbClr val="1F2937"/>
                </a:solidFill>
                <a:latin typeface="Inter"/>
                <a:ea typeface="Inter"/>
                <a:cs typeface="Inter"/>
              </a:rPr>
              <a:t>Runway of </a:t>
            </a:r>
            <a:r>
              <a:rPr sz="1150" b="1">
                <a:solidFill>
                  <a:srgbClr val="1F2937"/>
                </a:solidFill>
                <a:latin typeface="Inter"/>
                <a:ea typeface="Inter"/>
                <a:cs typeface="Inter"/>
              </a:rPr>
              <a:t>16.1 months</a:t>
            </a:r>
            <a:r>
              <a:rPr sz="1150" b="0">
                <a:solidFill>
                  <a:srgbClr val="1F2937"/>
                </a:solidFill>
                <a:latin typeface="Inter"/>
                <a:ea typeface="Inter"/>
                <a:cs typeface="Inter"/>
              </a:rPr>
              <a:t> at current burn.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50">
                <a:solidFill>
                  <a:srgbClr val="007A6A"/>
                </a:solidFill>
                <a:latin typeface="Inter"/>
                <a:ea typeface="Inter"/>
                <a:cs typeface="Inter"/>
              </a:rPr>
              <a:t>•  </a:t>
            </a:r>
            <a:r>
              <a:rPr sz="1150" b="0">
                <a:solidFill>
                  <a:srgbClr val="1F2937"/>
                </a:solidFill>
                <a:latin typeface="Inter"/>
                <a:ea typeface="Inter"/>
                <a:cs typeface="Inter"/>
              </a:rPr>
              <a:t>No new debt facility drawn in the quarter; ATM line remains undrawn.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46520"/>
            <a:ext cx="11277295" cy="6000"/>
          </a:xfrm>
          <a:prstGeom prst="rect">
            <a:avLst/>
          </a:prstGeom>
          <a:solidFill>
            <a:srgbClr val="E2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900">
                <a:solidFill>
                  <a:srgbClr val="5B6B86"/>
                </a:solidFill>
                <a:latin typeface="Inter"/>
                <a:ea typeface="Inter"/>
                <a:cs typeface="Inter"/>
              </a:rPr>
              <a:t>Troutly Analytics, Inc.  |  Board of Directors — July 2026  | 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10528"/>
            <a:ext cx="1218895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>
                <a:solidFill>
                  <a:srgbClr val="5B6B86"/>
                </a:solidFill>
                <a:latin typeface="Inter"/>
                <a:ea typeface="Inter"/>
                <a:cs typeface="Inter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0E1B33"/>
                </a:solidFill>
                <a:latin typeface="Helvetica Neue"/>
                <a:ea typeface="Helvetica Neue"/>
                <a:cs typeface="Helvetica Neue"/>
              </a:rPr>
              <a:t>Customer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1400" i="0">
                <a:solidFill>
                  <a:srgbClr val="5B6B86"/>
                </a:solidFill>
                <a:latin typeface="Inter"/>
                <a:ea typeface="Inter"/>
                <a:cs typeface="Inter"/>
              </a:rPr>
              <a:t>Q2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08760"/>
          <a:ext cx="5943600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2400"/>
                <a:gridCol w="1981200"/>
              </a:tblGrid>
              <a:tr h="384048">
                <a:tc>
                  <a:txBody>
                    <a:bodyPr lIns="73152" rIns="73152" tIns="36576" bIns="36576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Metric</a:t>
                      </a:r>
                    </a:p>
                  </a:txBody>
                  <a:tcPr>
                    <a:solidFill>
                      <a:srgbClr val="0E1B33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28575" cap="flat" cmpd="sng" algn="ctr">
                      <a:solidFill>
                        <a:srgbClr val="00B59C"/>
                      </a:solidFill>
                    </a:lnB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Q2 2026</a:t>
                      </a:r>
                    </a:p>
                  </a:txBody>
                  <a:tcPr>
                    <a:solidFill>
                      <a:srgbClr val="0E1B33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28575" cap="flat" cmpd="sng" algn="ctr">
                      <a:solidFill>
                        <a:srgbClr val="00B59C"/>
                      </a:solidFill>
                    </a:lnB>
                  </a:tcPr>
                </a:tc>
              </a:tr>
              <a:tr h="329184"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0E1B33"/>
                          </a:solidFill>
                          <a:latin typeface="Inter"/>
                          <a:ea typeface="Inter"/>
                          <a:cs typeface="Inter"/>
                        </a:rPr>
                        <a:t>Logo count</a:t>
                      </a:r>
                    </a:p>
                  </a:txBody>
                  <a:tcPr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 algn="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</a:rPr>
                        <a:t>214</a:t>
                      </a:r>
                    </a:p>
                  </a:txBody>
                  <a:tcPr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</a:tr>
              <a:tr h="329184"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0E1B33"/>
                          </a:solidFill>
                          <a:latin typeface="Inter"/>
                          <a:ea typeface="Inter"/>
                          <a:cs typeface="Inter"/>
                        </a:rPr>
                        <a:t>Gross revenue retention</a:t>
                      </a:r>
                    </a:p>
                  </a:txBody>
                  <a:tcPr>
                    <a:solidFill>
                      <a:srgbClr val="F4F6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 algn="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</a:rPr>
                        <a:t>92.4%</a:t>
                      </a:r>
                    </a:p>
                  </a:txBody>
                  <a:tcPr>
                    <a:solidFill>
                      <a:srgbClr val="F4F6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</a:tr>
              <a:tr h="329184"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0E1B33"/>
                          </a:solidFill>
                          <a:latin typeface="Inter"/>
                          <a:ea typeface="Inter"/>
                          <a:cs typeface="Inter"/>
                        </a:rPr>
                        <a:t>Net revenue retention</a:t>
                      </a:r>
                    </a:p>
                  </a:txBody>
                  <a:tcPr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 algn="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</a:rPr>
                        <a:t>111.7%</a:t>
                      </a:r>
                    </a:p>
                  </a:txBody>
                  <a:tcPr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</a:tr>
              <a:tr h="329184"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0E1B33"/>
                          </a:solidFill>
                          <a:latin typeface="Inter"/>
                          <a:ea typeface="Inter"/>
                          <a:cs typeface="Inter"/>
                        </a:rPr>
                        <a:t>NPS (June survey, n=147)</a:t>
                      </a:r>
                    </a:p>
                  </a:txBody>
                  <a:tcPr>
                    <a:solidFill>
                      <a:srgbClr val="F4F6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 algn="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</a:rPr>
                        <a:t>46</a:t>
                      </a:r>
                    </a:p>
                  </a:txBody>
                  <a:tcPr>
                    <a:solidFill>
                      <a:srgbClr val="F4F6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</a:tr>
              <a:tr h="329184"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0E1B33"/>
                          </a:solidFill>
                          <a:latin typeface="Inter"/>
                          <a:ea typeface="Inter"/>
                          <a:cs typeface="Inter"/>
                        </a:rPr>
                        <a:t>Support CSAT (rolling 60d)</a:t>
                      </a:r>
                    </a:p>
                  </a:txBody>
                  <a:tcPr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</a:rPr>
                        <a:t>4.6 / 5.0</a:t>
                      </a:r>
                    </a:p>
                  </a:txBody>
                  <a:tcPr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</a:tr>
              <a:tr h="329184"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0E1B33"/>
                          </a:solidFill>
                          <a:latin typeface="Inter"/>
                          <a:ea typeface="Inter"/>
                          <a:cs typeface="Inter"/>
                        </a:rPr>
                        <a:t>Median implementation time</a:t>
                      </a:r>
                    </a:p>
                  </a:txBody>
                  <a:tcPr>
                    <a:solidFill>
                      <a:srgbClr val="F4F6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2E7F0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 algn="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</a:rPr>
                        <a:t>21 days</a:t>
                      </a:r>
                    </a:p>
                  </a:txBody>
                  <a:tcPr>
                    <a:solidFill>
                      <a:srgbClr val="F4F6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2E7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772400" y="1508760"/>
            <a:ext cx="3931920" cy="128016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909560" y="1581912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5B6B86"/>
                </a:solidFill>
                <a:latin typeface="Inter"/>
                <a:ea typeface="Inter"/>
                <a:cs typeface="Inter"/>
              </a:rPr>
              <a:t>NPS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1856231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007A6A"/>
                </a:solidFill>
                <a:latin typeface="Helvetica Neue"/>
                <a:ea typeface="Helvetica Neue"/>
                <a:cs typeface="Helvetica Neue"/>
              </a:rPr>
              <a:t>+6 pts QoQ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233172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150">
                <a:solidFill>
                  <a:srgbClr val="1F2937"/>
                </a:solidFill>
                <a:latin typeface="Inter"/>
                <a:ea typeface="Inter"/>
                <a:cs typeface="Inter"/>
              </a:rPr>
              <a:t>Largest gain in the Growth segment.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2880360"/>
            <a:ext cx="3931920" cy="128016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7909560" y="2953512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5B6B86"/>
                </a:solidFill>
                <a:latin typeface="Inter"/>
                <a:ea typeface="Inter"/>
                <a:cs typeface="Inter"/>
              </a:rPr>
              <a:t>AT-RISK → GREEN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3227832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007A6A"/>
                </a:solidFill>
                <a:latin typeface="Helvetica Neue"/>
                <a:ea typeface="Helvetica Neue"/>
                <a:cs typeface="Helvetica Neue"/>
              </a:rPr>
              <a:t>2 accounts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370332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150">
                <a:solidFill>
                  <a:srgbClr val="1F2937"/>
                </a:solidFill>
                <a:latin typeface="Inter"/>
                <a:ea typeface="Inter"/>
                <a:cs typeface="Inter"/>
              </a:rPr>
              <a:t>After Attribution v3 migration.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4251960"/>
            <a:ext cx="3931920" cy="128016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7909560" y="4325112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5B6B86"/>
                </a:solidFill>
                <a:latin typeface="Inter"/>
                <a:ea typeface="Inter"/>
                <a:cs typeface="Inter"/>
              </a:rPr>
              <a:t>CHURN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4599432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007A6A"/>
                </a:solidFill>
                <a:latin typeface="Helvetica Neue"/>
                <a:ea typeface="Helvetica Neue"/>
                <a:cs typeface="Helvetica Neue"/>
              </a:rPr>
              <a:t>1 account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507492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150">
                <a:solidFill>
                  <a:srgbClr val="1F2937"/>
                </a:solidFill>
                <a:latin typeface="Inter"/>
                <a:ea typeface="Inter"/>
                <a:cs typeface="Inter"/>
              </a:rPr>
              <a:t>ARR impact $48,000.00.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446520"/>
            <a:ext cx="11277295" cy="6000"/>
          </a:xfrm>
          <a:prstGeom prst="rect">
            <a:avLst/>
          </a:prstGeom>
          <a:solidFill>
            <a:srgbClr val="E2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900">
                <a:solidFill>
                  <a:srgbClr val="5B6B86"/>
                </a:solidFill>
                <a:latin typeface="Inter"/>
                <a:ea typeface="Inter"/>
                <a:cs typeface="Inter"/>
              </a:rPr>
              <a:t>Troutly Analytics, Inc.  |  Board of Directors — July 2026  | 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510528"/>
            <a:ext cx="1218895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>
                <a:solidFill>
                  <a:srgbClr val="5B6B86"/>
                </a:solidFill>
                <a:latin typeface="Inter"/>
                <a:ea typeface="Inter"/>
                <a:cs typeface="Inter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0E1B33"/>
                </a:solidFill>
                <a:latin typeface="Helvetica Neue"/>
                <a:ea typeface="Helvetica Neue"/>
                <a:cs typeface="Helvetica Neue"/>
              </a:rPr>
              <a:t>Sales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1400" i="0">
                <a:solidFill>
                  <a:srgbClr val="5B6B86"/>
                </a:solidFill>
                <a:latin typeface="Inter"/>
                <a:ea typeface="Inter"/>
                <a:cs typeface="Inter"/>
              </a:rPr>
              <a:t>Stage coverage and weighted ACV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08760"/>
          <a:ext cx="7315200" cy="2121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463040"/>
                <a:gridCol w="2926080"/>
              </a:tblGrid>
              <a:tr h="384048">
                <a:tc>
                  <a:txBody>
                    <a:bodyPr lIns="73152" rIns="73152" tIns="36576" bIns="36576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Stage</a:t>
                      </a:r>
                    </a:p>
                  </a:txBody>
                  <a:tcPr>
                    <a:solidFill>
                      <a:srgbClr val="0E1B33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28575" cap="flat" cmpd="sng" algn="ctr">
                      <a:solidFill>
                        <a:srgbClr val="00B59C"/>
                      </a:solidFill>
                    </a:lnB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Count</a:t>
                      </a:r>
                    </a:p>
                  </a:txBody>
                  <a:tcPr>
                    <a:solidFill>
                      <a:srgbClr val="0E1B33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28575" cap="flat" cmpd="sng" algn="ctr">
                      <a:solidFill>
                        <a:srgbClr val="00B59C"/>
                      </a:solidFill>
                    </a:lnB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Weighted ACV</a:t>
                      </a:r>
                    </a:p>
                  </a:txBody>
                  <a:tcPr>
                    <a:solidFill>
                      <a:srgbClr val="0E1B33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28575" cap="flat" cmpd="sng" algn="ctr">
                      <a:solidFill>
                        <a:srgbClr val="00B59C"/>
                      </a:solidFill>
                    </a:lnB>
                  </a:tcPr>
                </a:tc>
              </a:tr>
              <a:tr h="347472"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0E1B33"/>
                          </a:solidFill>
                          <a:latin typeface="Inter"/>
                          <a:ea typeface="Inter"/>
                          <a:cs typeface="Inter"/>
                        </a:rPr>
                        <a:t>Qualified</a:t>
                      </a:r>
                    </a:p>
                  </a:txBody>
                  <a:tcPr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 algn="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</a:rPr>
                        <a:t>74</a:t>
                      </a:r>
                    </a:p>
                  </a:txBody>
                  <a:tcPr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 algn="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</a:rPr>
                        <a:t>$1,120,000.00</a:t>
                      </a:r>
                    </a:p>
                  </a:txBody>
                  <a:tcPr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</a:tr>
              <a:tr h="347472"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0E1B33"/>
                          </a:solidFill>
                          <a:latin typeface="Inter"/>
                          <a:ea typeface="Inter"/>
                          <a:cs typeface="Inter"/>
                        </a:rPr>
                        <a:t>Discovery</a:t>
                      </a:r>
                    </a:p>
                  </a:txBody>
                  <a:tcPr>
                    <a:solidFill>
                      <a:srgbClr val="F4F6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 algn="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</a:rPr>
                        <a:t>41</a:t>
                      </a:r>
                    </a:p>
                  </a:txBody>
                  <a:tcPr>
                    <a:solidFill>
                      <a:srgbClr val="F4F6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 algn="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</a:rPr>
                        <a:t>$890,000.00</a:t>
                      </a:r>
                    </a:p>
                  </a:txBody>
                  <a:tcPr>
                    <a:solidFill>
                      <a:srgbClr val="F4F6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</a:tr>
              <a:tr h="347472"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0E1B33"/>
                          </a:solidFill>
                          <a:latin typeface="Inter"/>
                          <a:ea typeface="Inter"/>
                          <a:cs typeface="Inter"/>
                        </a:rPr>
                        <a:t>Proposal</a:t>
                      </a:r>
                    </a:p>
                  </a:txBody>
                  <a:tcPr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 algn="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 algn="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</a:rPr>
                        <a:t>$1,340,000.00</a:t>
                      </a:r>
                    </a:p>
                  </a:txBody>
                  <a:tcPr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</a:tr>
              <a:tr h="347472"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0E1B33"/>
                          </a:solidFill>
                          <a:latin typeface="Inter"/>
                          <a:ea typeface="Inter"/>
                          <a:cs typeface="Inter"/>
                        </a:rPr>
                        <a:t>Negotiation</a:t>
                      </a:r>
                    </a:p>
                  </a:txBody>
                  <a:tcPr>
                    <a:solidFill>
                      <a:srgbClr val="F4F6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 algn="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</a:rPr>
                        <a:t>9</a:t>
                      </a:r>
                    </a:p>
                  </a:txBody>
                  <a:tcPr>
                    <a:solidFill>
                      <a:srgbClr val="F4F6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 algn="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</a:rPr>
                        <a:t>$720,000.00</a:t>
                      </a:r>
                    </a:p>
                  </a:txBody>
                  <a:tcPr>
                    <a:solidFill>
                      <a:srgbClr val="F4F6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</a:tr>
              <a:tr h="347472"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0E1B33"/>
                          </a:solidFill>
                          <a:latin typeface="Inter"/>
                          <a:ea typeface="Inter"/>
                          <a:cs typeface="Inter"/>
                        </a:rPr>
                        <a:t>Verbal / late-stage</a:t>
                      </a:r>
                    </a:p>
                  </a:txBody>
                  <a:tcPr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2E7F0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 algn="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2E7F0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 algn="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</a:rPr>
                        <a:t>$310,000.00</a:t>
                      </a:r>
                    </a:p>
                  </a:txBody>
                  <a:tcPr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2E7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9052560" y="1508760"/>
            <a:ext cx="2651760" cy="1463040"/>
          </a:xfrm>
          <a:prstGeom prst="rect">
            <a:avLst/>
          </a:prstGeom>
          <a:solidFill>
            <a:srgbClr val="0E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89720" y="160020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B7C4DE"/>
                </a:solidFill>
                <a:latin typeface="Inter"/>
                <a:ea typeface="Inter"/>
                <a:cs typeface="Inter"/>
              </a:rPr>
              <a:t>PIPELINE 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89720" y="1920240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3.4x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89720" y="2514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B7C4DE"/>
                </a:solidFill>
                <a:latin typeface="Inter"/>
                <a:ea typeface="Inter"/>
                <a:cs typeface="Inter"/>
              </a:rPr>
              <a:t>vs Q3 target of $1,275,000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11247120" cy="228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50">
                <a:solidFill>
                  <a:srgbClr val="007A6A"/>
                </a:solidFill>
                <a:latin typeface="Inter"/>
                <a:ea typeface="Inter"/>
                <a:cs typeface="Inter"/>
              </a:rPr>
              <a:t>•  </a:t>
            </a:r>
            <a:r>
              <a:rPr sz="1350" b="1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3.4x</a:t>
            </a:r>
            <a:r>
              <a:rPr sz="1350" b="0">
                <a:solidFill>
                  <a:srgbClr val="1F2937"/>
                </a:solidFill>
                <a:latin typeface="Inter"/>
                <a:ea typeface="Inter"/>
                <a:cs typeface="Inter"/>
              </a:rPr>
              <a:t> pipeline coverage against the Q3 new-logo target of </a:t>
            </a:r>
            <a:r>
              <a:rPr sz="1350" b="1">
                <a:solidFill>
                  <a:srgbClr val="1F2937"/>
                </a:solidFill>
                <a:latin typeface="Inter"/>
                <a:ea typeface="Inter"/>
                <a:cs typeface="Inter"/>
              </a:rPr>
              <a:t>$1,275,000.00</a:t>
            </a:r>
            <a:r>
              <a:rPr sz="1350" b="0">
                <a:solidFill>
                  <a:srgbClr val="1F2937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50">
                <a:solidFill>
                  <a:srgbClr val="007A6A"/>
                </a:solidFill>
                <a:latin typeface="Inter"/>
                <a:ea typeface="Inter"/>
                <a:cs typeface="Inter"/>
              </a:rPr>
              <a:t>•  </a:t>
            </a:r>
            <a:r>
              <a:rPr sz="1350" b="0">
                <a:solidFill>
                  <a:srgbClr val="1F2937"/>
                </a:solidFill>
                <a:latin typeface="Inter"/>
                <a:ea typeface="Inter"/>
                <a:cs typeface="Inter"/>
              </a:rPr>
              <a:t>Two enterprise deals slipped from Q2 to Q3; both remain forecast with paper in hand.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50">
                <a:solidFill>
                  <a:srgbClr val="007A6A"/>
                </a:solidFill>
                <a:latin typeface="Inter"/>
                <a:ea typeface="Inter"/>
                <a:cs typeface="Inter"/>
              </a:rPr>
              <a:t>•  </a:t>
            </a:r>
            <a:r>
              <a:rPr sz="1350" b="0">
                <a:solidFill>
                  <a:srgbClr val="1F2937"/>
                </a:solidFill>
                <a:latin typeface="Inter"/>
                <a:ea typeface="Inter"/>
                <a:cs typeface="Inter"/>
              </a:rPr>
              <a:t>Outbound bookings share up to </a:t>
            </a:r>
            <a:r>
              <a:rPr sz="1350" b="1">
                <a:solidFill>
                  <a:srgbClr val="1F2937"/>
                </a:solidFill>
                <a:latin typeface="Inter"/>
                <a:ea typeface="Inter"/>
                <a:cs typeface="Inter"/>
              </a:rPr>
              <a:t>34%</a:t>
            </a:r>
            <a:r>
              <a:rPr sz="1350" b="0">
                <a:solidFill>
                  <a:srgbClr val="1F2937"/>
                </a:solidFill>
                <a:latin typeface="Inter"/>
                <a:ea typeface="Inter"/>
                <a:cs typeface="Inter"/>
              </a:rPr>
              <a:t> from 22% in Q1 following the SDR hire in April.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446520"/>
            <a:ext cx="11277295" cy="6000"/>
          </a:xfrm>
          <a:prstGeom prst="rect">
            <a:avLst/>
          </a:prstGeom>
          <a:solidFill>
            <a:srgbClr val="E2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900">
                <a:solidFill>
                  <a:srgbClr val="5B6B86"/>
                </a:solidFill>
                <a:latin typeface="Inter"/>
                <a:ea typeface="Inter"/>
                <a:cs typeface="Inter"/>
              </a:rPr>
              <a:t>Troutly Analytics, Inc.  |  Board of Directors — July 2026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10528"/>
            <a:ext cx="1218895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>
                <a:solidFill>
                  <a:srgbClr val="5B6B86"/>
                </a:solidFill>
                <a:latin typeface="Inter"/>
                <a:ea typeface="Inter"/>
                <a:cs typeface="Inter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0E1B33"/>
                </a:solidFill>
                <a:latin typeface="Helvetica Neue"/>
                <a:ea typeface="Helvetica Neue"/>
                <a:cs typeface="Helvetica Neue"/>
              </a:rPr>
              <a:t>Hiring Plan — Second Half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1400" i="0">
                <a:solidFill>
                  <a:srgbClr val="5B6B86"/>
                </a:solidFill>
                <a:latin typeface="Inter"/>
                <a:ea typeface="Inter"/>
                <a:cs typeface="Inter"/>
              </a:rPr>
              <a:t>Five approved roles for H2 2026 (Board-approved 06/20/2026)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08760"/>
          <a:ext cx="11247120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7670"/>
                <a:gridCol w="2811780"/>
                <a:gridCol w="1405890"/>
                <a:gridCol w="2811780"/>
              </a:tblGrid>
              <a:tr h="384048">
                <a:tc>
                  <a:txBody>
                    <a:bodyPr lIns="73152" rIns="73152" tIns="36576" bIns="36576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Role</a:t>
                      </a:r>
                    </a:p>
                  </a:txBody>
                  <a:tcPr>
                    <a:solidFill>
                      <a:srgbClr val="0E1B33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28575" cap="flat" cmpd="sng" algn="ctr">
                      <a:solidFill>
                        <a:srgbClr val="00B59C"/>
                      </a:solidFill>
                    </a:lnB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Department</a:t>
                      </a:r>
                    </a:p>
                  </a:txBody>
                  <a:tcPr>
                    <a:solidFill>
                      <a:srgbClr val="0E1B33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28575" cap="flat" cmpd="sng" algn="ctr">
                      <a:solidFill>
                        <a:srgbClr val="00B59C"/>
                      </a:solidFill>
                    </a:lnB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Target start</a:t>
                      </a:r>
                    </a:p>
                  </a:txBody>
                  <a:tcPr>
                    <a:solidFill>
                      <a:srgbClr val="0E1B33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28575" cap="flat" cmpd="sng" algn="ctr">
                      <a:solidFill>
                        <a:srgbClr val="00B59C"/>
                      </a:solidFill>
                    </a:lnB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Annualized cost</a:t>
                      </a:r>
                    </a:p>
                  </a:txBody>
                  <a:tcPr>
                    <a:solidFill>
                      <a:srgbClr val="0E1B33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28575" cap="flat" cmpd="sng" algn="ctr">
                      <a:solidFill>
                        <a:srgbClr val="00B59C"/>
                      </a:solidFill>
                    </a:lnB>
                  </a:tcPr>
                </a:tc>
              </a:tr>
              <a:tr h="329184"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0E1B33"/>
                          </a:solidFill>
                          <a:latin typeface="Inter"/>
                          <a:ea typeface="Inter"/>
                          <a:cs typeface="Inter"/>
                        </a:rPr>
                        <a:t>Senior Software Engineer</a:t>
                      </a:r>
                    </a:p>
                  </a:txBody>
                  <a:tcPr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</a:rPr>
                        <a:t>Engineering</a:t>
                      </a:r>
                    </a:p>
                  </a:txBody>
                  <a:tcPr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</a:rPr>
                        <a:t>Q3</a:t>
                      </a:r>
                    </a:p>
                  </a:txBody>
                  <a:tcPr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 algn="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</a:rPr>
                        <a:t>$152,000.00</a:t>
                      </a:r>
                    </a:p>
                  </a:txBody>
                  <a:tcPr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</a:tr>
              <a:tr h="329184"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0E1B33"/>
                          </a:solidFill>
                          <a:latin typeface="Inter"/>
                          <a:ea typeface="Inter"/>
                          <a:cs typeface="Inter"/>
                        </a:rPr>
                        <a:t>Software Engineer II</a:t>
                      </a:r>
                    </a:p>
                  </a:txBody>
                  <a:tcPr>
                    <a:solidFill>
                      <a:srgbClr val="F4F6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</a:rPr>
                        <a:t>Engineering</a:t>
                      </a:r>
                    </a:p>
                  </a:txBody>
                  <a:tcPr>
                    <a:solidFill>
                      <a:srgbClr val="F4F6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</a:rPr>
                        <a:t>Q3</a:t>
                      </a:r>
                    </a:p>
                  </a:txBody>
                  <a:tcPr>
                    <a:solidFill>
                      <a:srgbClr val="F4F6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 algn="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</a:rPr>
                        <a:t>$128,000.00</a:t>
                      </a:r>
                    </a:p>
                  </a:txBody>
                  <a:tcPr>
                    <a:solidFill>
                      <a:srgbClr val="F4F6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</a:tr>
              <a:tr h="329184"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0E1B33"/>
                          </a:solidFill>
                          <a:latin typeface="Inter"/>
                          <a:ea typeface="Inter"/>
                          <a:cs typeface="Inter"/>
                        </a:rPr>
                        <a:t>Account Executive</a:t>
                      </a:r>
                    </a:p>
                  </a:txBody>
                  <a:tcPr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</a:rPr>
                        <a:t>Sales</a:t>
                      </a:r>
                    </a:p>
                  </a:txBody>
                  <a:tcPr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</a:rPr>
                        <a:t>Q3</a:t>
                      </a:r>
                    </a:p>
                  </a:txBody>
                  <a:tcPr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 algn="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</a:rPr>
                        <a:t>$98,000.00</a:t>
                      </a:r>
                    </a:p>
                  </a:txBody>
                  <a:tcPr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</a:tr>
              <a:tr h="329184"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0E1B33"/>
                          </a:solidFill>
                          <a:latin typeface="Inter"/>
                          <a:ea typeface="Inter"/>
                          <a:cs typeface="Inter"/>
                        </a:rPr>
                        <a:t>Customer Success Manager</a:t>
                      </a:r>
                    </a:p>
                  </a:txBody>
                  <a:tcPr>
                    <a:solidFill>
                      <a:srgbClr val="F4F6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</a:rPr>
                        <a:t>Customer Success</a:t>
                      </a:r>
                    </a:p>
                  </a:txBody>
                  <a:tcPr>
                    <a:solidFill>
                      <a:srgbClr val="F4F6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</a:rPr>
                        <a:t>Q3</a:t>
                      </a:r>
                    </a:p>
                  </a:txBody>
                  <a:tcPr>
                    <a:solidFill>
                      <a:srgbClr val="F4F6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 algn="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</a:rPr>
                        <a:t>$96,000.00</a:t>
                      </a:r>
                    </a:p>
                  </a:txBody>
                  <a:tcPr>
                    <a:solidFill>
                      <a:srgbClr val="F4F6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</a:tr>
              <a:tr h="329184"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0E1B33"/>
                          </a:solidFill>
                          <a:latin typeface="Inter"/>
                          <a:ea typeface="Inter"/>
                          <a:cs typeface="Inter"/>
                        </a:rPr>
                        <a:t>Product Designer</a:t>
                      </a:r>
                    </a:p>
                  </a:txBody>
                  <a:tcPr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</a:rPr>
                        <a:t>Product</a:t>
                      </a:r>
                    </a:p>
                  </a:txBody>
                  <a:tcPr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</a:rPr>
                        <a:t>Q3</a:t>
                      </a:r>
                    </a:p>
                  </a:txBody>
                  <a:tcPr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 algn="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</a:rPr>
                        <a:t>$118,000.00</a:t>
                      </a:r>
                    </a:p>
                  </a:txBody>
                  <a:tcPr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</a:tr>
              <a:tr h="329184"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0E1B33"/>
                          </a:solidFill>
                          <a:latin typeface="Inter"/>
                          <a:ea typeface="Inter"/>
                          <a:cs typeface="Inter"/>
                        </a:rPr>
                        <a:t>Total annualized, including $20,000 recruiting reserve</a:t>
                      </a:r>
                    </a:p>
                  </a:txBody>
                  <a:tcPr>
                    <a:solidFill>
                      <a:srgbClr val="F4F6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2E7F0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</a:p>
                  </a:txBody>
                  <a:tcPr>
                    <a:solidFill>
                      <a:srgbClr val="F4F6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2E7F0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</a:p>
                  </a:txBody>
                  <a:tcPr>
                    <a:solidFill>
                      <a:srgbClr val="F4F6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2E7F0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 algn="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</a:rPr>
                        <a:t>$612,000.00</a:t>
                      </a:r>
                    </a:p>
                  </a:txBody>
                  <a:tcPr>
                    <a:solidFill>
                      <a:srgbClr val="F4F6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2E7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709160"/>
            <a:ext cx="11247120" cy="1828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>
                <a:solidFill>
                  <a:srgbClr val="007A6A"/>
                </a:solidFill>
                <a:latin typeface="Inter"/>
                <a:ea typeface="Inter"/>
                <a:cs typeface="Inter"/>
              </a:rPr>
              <a:t>•  </a:t>
            </a:r>
            <a:r>
              <a:rPr sz="1300" b="0">
                <a:solidFill>
                  <a:srgbClr val="1F2937"/>
                </a:solidFill>
                <a:latin typeface="Inter"/>
                <a:ea typeface="Inter"/>
                <a:cs typeface="Inter"/>
              </a:rPr>
              <a:t>One conditional Customer Success backfill authorized if a Q3 departure occurs before </a:t>
            </a:r>
            <a:r>
              <a:rPr sz="1300" b="1">
                <a:solidFill>
                  <a:srgbClr val="1F2937"/>
                </a:solidFill>
                <a:latin typeface="Inter"/>
                <a:ea typeface="Inter"/>
                <a:cs typeface="Inter"/>
              </a:rPr>
              <a:t>09/30/2026</a:t>
            </a:r>
            <a:r>
              <a:rPr sz="1300" b="0">
                <a:solidFill>
                  <a:srgbClr val="1F2937"/>
                </a:solidFill>
                <a:latin typeface="Inter"/>
                <a:ea typeface="Inter"/>
                <a:cs typeface="Inter"/>
              </a:rPr>
              <a:t>; not included in the $612,000.00 total.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>
                <a:solidFill>
                  <a:srgbClr val="007A6A"/>
                </a:solidFill>
                <a:latin typeface="Inter"/>
                <a:ea typeface="Inter"/>
                <a:cs typeface="Inter"/>
              </a:rPr>
              <a:t>•  </a:t>
            </a:r>
            <a:r>
              <a:rPr sz="1300" b="0">
                <a:solidFill>
                  <a:srgbClr val="1F2937"/>
                </a:solidFill>
                <a:latin typeface="Inter"/>
                <a:ea typeface="Inter"/>
                <a:cs typeface="Inter"/>
              </a:rPr>
              <a:t>Requisitions </a:t>
            </a:r>
            <a:r>
              <a:rPr sz="1300" b="1">
                <a:solidFill>
                  <a:srgbClr val="1F2937"/>
                </a:solidFill>
                <a:latin typeface="Inter"/>
                <a:ea typeface="Inter"/>
                <a:cs typeface="Inter"/>
              </a:rPr>
              <a:t>REQ-2026-031</a:t>
            </a:r>
            <a:r>
              <a:rPr sz="1300" b="0">
                <a:solidFill>
                  <a:srgbClr val="1F2937"/>
                </a:solidFill>
                <a:latin typeface="Inter"/>
                <a:ea typeface="Inter"/>
                <a:cs typeface="Inter"/>
              </a:rPr>
              <a:t> through </a:t>
            </a:r>
            <a:r>
              <a:rPr sz="1300" b="1">
                <a:solidFill>
                  <a:srgbClr val="1F2937"/>
                </a:solidFill>
                <a:latin typeface="Inter"/>
                <a:ea typeface="Inter"/>
                <a:cs typeface="Inter"/>
              </a:rPr>
              <a:t>REQ-2026-035</a:t>
            </a:r>
            <a:r>
              <a:rPr sz="1300" b="0">
                <a:solidFill>
                  <a:srgbClr val="1F2937"/>
                </a:solidFill>
                <a:latin typeface="Inter"/>
                <a:ea typeface="Inter"/>
                <a:cs typeface="Inter"/>
              </a:rPr>
              <a:t> opened in Greenhouse.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7295" cy="6000"/>
          </a:xfrm>
          <a:prstGeom prst="rect">
            <a:avLst/>
          </a:prstGeom>
          <a:solidFill>
            <a:srgbClr val="E2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900">
                <a:solidFill>
                  <a:srgbClr val="5B6B86"/>
                </a:solidFill>
                <a:latin typeface="Inter"/>
                <a:ea typeface="Inter"/>
                <a:cs typeface="Inter"/>
              </a:rPr>
              <a:t>Troutly Analytics, Inc.  |  Board of Directors — July 2026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218895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>
                <a:solidFill>
                  <a:srgbClr val="5B6B86"/>
                </a:solidFill>
                <a:latin typeface="Inter"/>
                <a:ea typeface="Inter"/>
                <a:cs typeface="Inter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0E1B33"/>
                </a:solidFill>
                <a:latin typeface="Helvetica Neue"/>
                <a:ea typeface="Helvetica Neue"/>
                <a:cs typeface="Helvetica Neue"/>
              </a:rPr>
              <a:t>Marketing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1400" i="0">
                <a:solidFill>
                  <a:srgbClr val="5B6B86"/>
                </a:solidFill>
                <a:latin typeface="Inter"/>
                <a:ea typeface="Inter"/>
                <a:cs typeface="Inter"/>
              </a:rPr>
              <a:t>Q2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3749039" cy="137160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21792" y="160020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5B6B86"/>
                </a:solidFill>
                <a:latin typeface="Inter"/>
                <a:ea typeface="Inter"/>
                <a:cs typeface="Inter"/>
              </a:rPr>
              <a:t>MQL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92024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007A6A"/>
                </a:solidFill>
                <a:latin typeface="Helvetica Neue"/>
                <a:ea typeface="Helvetica Neue"/>
                <a:cs typeface="Helvetica Neue"/>
              </a:rPr>
              <a:t>612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5146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1F2937"/>
                </a:solidFill>
                <a:latin typeface="Inter"/>
                <a:ea typeface="Inter"/>
                <a:cs typeface="Inter"/>
              </a:rPr>
              <a:t>+18% QoQ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508760"/>
            <a:ext cx="3749039" cy="137160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553712" y="160020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5B6B86"/>
                </a:solidFill>
                <a:latin typeface="Inter"/>
                <a:ea typeface="Inter"/>
                <a:cs typeface="Inter"/>
              </a:rPr>
              <a:t>SQL CONVERSION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192024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007A6A"/>
                </a:solidFill>
                <a:latin typeface="Helvetica Neue"/>
                <a:ea typeface="Helvetica Neue"/>
                <a:cs typeface="Helvetica Neue"/>
              </a:rPr>
              <a:t>21%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5146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1F2937"/>
                </a:solidFill>
                <a:latin typeface="Inter"/>
                <a:ea typeface="Inter"/>
                <a:cs typeface="Inter"/>
              </a:rPr>
              <a:t>steady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508760"/>
            <a:ext cx="3749039" cy="137160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485632" y="160020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5B6B86"/>
                </a:solidFill>
                <a:latin typeface="Inter"/>
                <a:ea typeface="Inter"/>
                <a:cs typeface="Inter"/>
              </a:rPr>
              <a:t>ATTRIBUTION V3 LAUNCH DEMOS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192024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007A6A"/>
                </a:solidFill>
                <a:latin typeface="Helvetica Neue"/>
                <a:ea typeface="Helvetica Neue"/>
                <a:cs typeface="Helvetica Neue"/>
              </a:rPr>
              <a:t>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25146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1F2937"/>
                </a:solidFill>
                <a:latin typeface="Inter"/>
                <a:ea typeface="Inter"/>
                <a:cs typeface="Inter"/>
              </a:rPr>
              <a:t>strongest launch on record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291840"/>
            <a:ext cx="11247120" cy="2743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>
                <a:solidFill>
                  <a:srgbClr val="007A6A"/>
                </a:solidFill>
                <a:latin typeface="Inter"/>
                <a:ea typeface="Inter"/>
                <a:cs typeface="Inter"/>
              </a:rPr>
              <a:t>•  </a:t>
            </a:r>
            <a:r>
              <a:rPr sz="1300" b="0">
                <a:solidFill>
                  <a:srgbClr val="1F2937"/>
                </a:solidFill>
                <a:latin typeface="Inter"/>
                <a:ea typeface="Inter"/>
                <a:cs typeface="Inter"/>
              </a:rPr>
              <a:t>Q2 MQL volume of </a:t>
            </a:r>
            <a:r>
              <a:rPr sz="1300" b="1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612</a:t>
            </a:r>
            <a:r>
              <a:rPr sz="1300" b="0">
                <a:solidFill>
                  <a:srgbClr val="1F2937"/>
                </a:solidFill>
                <a:latin typeface="Inter"/>
                <a:ea typeface="Inter"/>
                <a:cs typeface="Inter"/>
              </a:rPr>
              <a:t>, up 18% quarter-over-quarter; SQL conversion held steady at 21%.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>
                <a:solidFill>
                  <a:srgbClr val="007A6A"/>
                </a:solidFill>
                <a:latin typeface="Inter"/>
                <a:ea typeface="Inter"/>
                <a:cs typeface="Inter"/>
              </a:rPr>
              <a:t>•  </a:t>
            </a:r>
            <a:r>
              <a:rPr sz="1300" b="0">
                <a:solidFill>
                  <a:srgbClr val="1F2937"/>
                </a:solidFill>
                <a:latin typeface="Inter"/>
                <a:ea typeface="Inter"/>
                <a:cs typeface="Inter"/>
              </a:rPr>
              <a:t>Attribution v3 launch generated </a:t>
            </a:r>
            <a:r>
              <a:rPr sz="1300" b="1">
                <a:solidFill>
                  <a:srgbClr val="1F2937"/>
                </a:solidFill>
                <a:latin typeface="Inter"/>
                <a:ea typeface="Inter"/>
                <a:cs typeface="Inter"/>
              </a:rPr>
              <a:t>34 inbound demos</a:t>
            </a:r>
            <a:r>
              <a:rPr sz="1300" b="0">
                <a:solidFill>
                  <a:srgbClr val="1F2937"/>
                </a:solidFill>
                <a:latin typeface="Inter"/>
                <a:ea typeface="Inter"/>
                <a:cs typeface="Inter"/>
              </a:rPr>
              <a:t> in the two weeks after GA — the strongest launch week on record.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>
                <a:solidFill>
                  <a:srgbClr val="007A6A"/>
                </a:solidFill>
                <a:latin typeface="Inter"/>
                <a:ea typeface="Inter"/>
                <a:cs typeface="Inter"/>
              </a:rPr>
              <a:t>•  </a:t>
            </a:r>
            <a:r>
              <a:rPr sz="1300" b="0">
                <a:solidFill>
                  <a:srgbClr val="1F2937"/>
                </a:solidFill>
                <a:latin typeface="Inter"/>
                <a:ea typeface="Inter"/>
                <a:cs typeface="Inter"/>
              </a:rPr>
              <a:t>Field program returned to travel with three sponsored dinners in Austin, Denver, and NYC; combined pipeline sourced </a:t>
            </a:r>
            <a:r>
              <a:rPr sz="1300" b="1">
                <a:solidFill>
                  <a:srgbClr val="1F2937"/>
                </a:solidFill>
                <a:latin typeface="Inter"/>
                <a:ea typeface="Inter"/>
                <a:cs typeface="Inter"/>
              </a:rPr>
              <a:t>$340,000.00</a:t>
            </a:r>
            <a:r>
              <a:rPr sz="1300" b="0">
                <a:solidFill>
                  <a:srgbClr val="1F2937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>
                <a:solidFill>
                  <a:srgbClr val="007A6A"/>
                </a:solidFill>
                <a:latin typeface="Inter"/>
                <a:ea typeface="Inter"/>
                <a:cs typeface="Inter"/>
              </a:rPr>
              <a:t>•  </a:t>
            </a:r>
            <a:r>
              <a:rPr sz="1300" b="0">
                <a:solidFill>
                  <a:srgbClr val="1F2937"/>
                </a:solidFill>
                <a:latin typeface="Inter"/>
                <a:ea typeface="Inter"/>
                <a:cs typeface="Inter"/>
              </a:rPr>
              <a:t>Website refresh in flight for Q3 launch; migration to the new CMS scheduled for </a:t>
            </a:r>
            <a:r>
              <a:rPr sz="1300" b="1">
                <a:solidFill>
                  <a:srgbClr val="1F2937"/>
                </a:solidFill>
                <a:latin typeface="Inter"/>
                <a:ea typeface="Inter"/>
                <a:cs typeface="Inter"/>
              </a:rPr>
              <a:t>08/12/2026</a:t>
            </a:r>
            <a:r>
              <a:rPr sz="1300" b="0">
                <a:solidFill>
                  <a:srgbClr val="1F2937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446520"/>
            <a:ext cx="11277295" cy="6000"/>
          </a:xfrm>
          <a:prstGeom prst="rect">
            <a:avLst/>
          </a:prstGeom>
          <a:solidFill>
            <a:srgbClr val="E2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900">
                <a:solidFill>
                  <a:srgbClr val="5B6B86"/>
                </a:solidFill>
                <a:latin typeface="Inter"/>
                <a:ea typeface="Inter"/>
                <a:cs typeface="Inter"/>
              </a:rPr>
              <a:t>Troutly Analytics, Inc.  |  Board of Directors — July 2026  | 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510528"/>
            <a:ext cx="1218895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>
                <a:solidFill>
                  <a:srgbClr val="5B6B86"/>
                </a:solidFill>
                <a:latin typeface="Inter"/>
                <a:ea typeface="Inter"/>
                <a:cs typeface="Inter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0E1B33"/>
                </a:solidFill>
                <a:latin typeface="Helvetica Neue"/>
                <a:ea typeface="Helvetica Neue"/>
                <a:cs typeface="Helvetica Neue"/>
              </a:rPr>
              <a:t>HRIS Cutover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1400" i="0">
                <a:solidFill>
                  <a:srgbClr val="5B6B86"/>
                </a:solidFill>
                <a:latin typeface="Inter"/>
                <a:ea typeface="Inter"/>
                <a:cs typeface="Inter"/>
              </a:rPr>
              <a:t>SplinterHR → BambooHR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11247120" cy="822960"/>
          </a:xfrm>
          <a:prstGeom prst="rect">
            <a:avLst/>
          </a:prstGeom>
          <a:solidFill>
            <a:srgbClr val="0E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40080" y="167335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Cutover complete 07/01/2026 — first biweekly payroll ran 07/10/2026 clean.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124712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007A6A"/>
                </a:solidFill>
                <a:latin typeface="Inter"/>
                <a:ea typeface="Inter"/>
                <a:cs typeface="Inter"/>
              </a:rPr>
              <a:t>•  </a:t>
            </a:r>
            <a:r>
              <a:rPr sz="1400" b="0">
                <a:solidFill>
                  <a:srgbClr val="1F2937"/>
                </a:solidFill>
                <a:latin typeface="Inter"/>
                <a:ea typeface="Inter"/>
                <a:cs typeface="Inter"/>
              </a:rPr>
              <a:t>Migration from SplinterHR to BambooHR completed on schedule with </a:t>
            </a:r>
            <a:r>
              <a:rPr sz="1400" b="1">
                <a:solidFill>
                  <a:srgbClr val="1F2937"/>
                </a:solidFill>
                <a:latin typeface="Inter"/>
                <a:ea typeface="Inter"/>
                <a:cs typeface="Inter"/>
              </a:rPr>
              <a:t>no parallel-payroll period</a:t>
            </a:r>
            <a:r>
              <a:rPr sz="1400" b="0">
                <a:solidFill>
                  <a:srgbClr val="1F2937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007A6A"/>
                </a:solidFill>
                <a:latin typeface="Inter"/>
                <a:ea typeface="Inter"/>
                <a:cs typeface="Inter"/>
              </a:rPr>
              <a:t>•  </a:t>
            </a:r>
            <a:r>
              <a:rPr sz="1400" b="0">
                <a:solidFill>
                  <a:srgbClr val="1F2937"/>
                </a:solidFill>
                <a:latin typeface="Inter"/>
                <a:ea typeface="Inter"/>
                <a:cs typeface="Inter"/>
              </a:rPr>
              <a:t>Pay frequency moved from semi-monthly to </a:t>
            </a:r>
            <a:r>
              <a:rPr sz="1400" b="1">
                <a:solidFill>
                  <a:srgbClr val="1F2937"/>
                </a:solidFill>
                <a:latin typeface="Inter"/>
                <a:ea typeface="Inter"/>
                <a:cs typeface="Inter"/>
              </a:rPr>
              <a:t>biweekly</a:t>
            </a:r>
            <a:r>
              <a:rPr sz="1400" b="0">
                <a:solidFill>
                  <a:srgbClr val="1F2937"/>
                </a:solidFill>
                <a:latin typeface="Inter"/>
                <a:ea typeface="Inter"/>
                <a:cs typeface="Inter"/>
              </a:rPr>
              <a:t> effective 07/01/2026 (26 pay periods per year).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007A6A"/>
                </a:solidFill>
                <a:latin typeface="Inter"/>
                <a:ea typeface="Inter"/>
                <a:cs typeface="Inter"/>
              </a:rPr>
              <a:t>•  </a:t>
            </a:r>
            <a:r>
              <a:rPr sz="1400" b="0">
                <a:solidFill>
                  <a:srgbClr val="1F2937"/>
                </a:solidFill>
                <a:latin typeface="Inter"/>
                <a:ea typeface="Inter"/>
                <a:cs typeface="Inter"/>
              </a:rPr>
              <a:t>New PTO policy took effect </a:t>
            </a:r>
            <a:r>
              <a:rPr sz="1400" b="1">
                <a:solidFill>
                  <a:srgbClr val="1F2937"/>
                </a:solidFill>
                <a:latin typeface="Inter"/>
                <a:ea typeface="Inter"/>
                <a:cs typeface="Inter"/>
              </a:rPr>
              <a:t>07/01/2026</a:t>
            </a:r>
            <a:r>
              <a:rPr sz="1400" b="0">
                <a:solidFill>
                  <a:srgbClr val="1F2937"/>
                </a:solidFill>
                <a:latin typeface="Inter"/>
                <a:ea typeface="Inter"/>
                <a:cs typeface="Inter"/>
              </a:rPr>
              <a:t>, per the 06/20/2026 PTO memo.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007A6A"/>
                </a:solidFill>
                <a:latin typeface="Inter"/>
                <a:ea typeface="Inter"/>
                <a:cs typeface="Inter"/>
              </a:rPr>
              <a:t>•  </a:t>
            </a:r>
            <a:r>
              <a:rPr sz="1400" b="0">
                <a:solidFill>
                  <a:srgbClr val="1F2937"/>
                </a:solidFill>
                <a:latin typeface="Inter"/>
                <a:ea typeface="Inter"/>
                <a:cs typeface="Inter"/>
              </a:rPr>
              <a:t>Handbook </a:t>
            </a:r>
            <a:r>
              <a:rPr sz="1400" b="1">
                <a:solidFill>
                  <a:srgbClr val="1F2937"/>
                </a:solidFill>
                <a:latin typeface="Inter"/>
                <a:ea typeface="Inter"/>
                <a:cs typeface="Inter"/>
              </a:rPr>
              <a:t>v3</a:t>
            </a:r>
            <a:r>
              <a:rPr sz="1400" b="0">
                <a:solidFill>
                  <a:srgbClr val="1F2937"/>
                </a:solidFill>
                <a:latin typeface="Inter"/>
                <a:ea typeface="Inter"/>
                <a:cs typeface="Inter"/>
              </a:rPr>
              <a:t> issued to all employees on 07/01/2026.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77295" cy="6000"/>
          </a:xfrm>
          <a:prstGeom prst="rect">
            <a:avLst/>
          </a:prstGeom>
          <a:solidFill>
            <a:srgbClr val="E2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900">
                <a:solidFill>
                  <a:srgbClr val="5B6B86"/>
                </a:solidFill>
                <a:latin typeface="Inter"/>
                <a:ea typeface="Inter"/>
                <a:cs typeface="Inter"/>
              </a:rPr>
              <a:t>Troutly Analytics, Inc.  |  Board of Directors — July 2026  |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10528"/>
            <a:ext cx="1218895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>
                <a:solidFill>
                  <a:srgbClr val="5B6B86"/>
                </a:solidFill>
                <a:latin typeface="Inter"/>
                <a:ea typeface="Inter"/>
                <a:cs typeface="Inter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0E1B33"/>
                </a:solidFill>
                <a:latin typeface="Helvetica Neue"/>
                <a:ea typeface="Helvetica Neue"/>
                <a:cs typeface="Helvetica Neue"/>
              </a:rPr>
              <a:t>Risks and Mitigations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17320"/>
          <a:ext cx="11247120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8848"/>
                <a:gridCol w="6748272"/>
              </a:tblGrid>
              <a:tr h="384048">
                <a:tc>
                  <a:txBody>
                    <a:bodyPr lIns="73152" rIns="73152" tIns="36576" bIns="36576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Risk</a:t>
                      </a:r>
                    </a:p>
                  </a:txBody>
                  <a:tcPr>
                    <a:solidFill>
                      <a:srgbClr val="0E1B33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28575" cap="flat" cmpd="sng" algn="ctr">
                      <a:solidFill>
                        <a:srgbClr val="00B59C"/>
                      </a:solidFill>
                    </a:lnB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Mitigation</a:t>
                      </a:r>
                    </a:p>
                  </a:txBody>
                  <a:tcPr>
                    <a:solidFill>
                      <a:srgbClr val="0E1B33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28575" cap="flat" cmpd="sng" algn="ctr">
                      <a:solidFill>
                        <a:srgbClr val="00B59C"/>
                      </a:solidFill>
                    </a:lnB>
                  </a:tcPr>
                </a:tc>
              </a:tr>
              <a:tr h="822960"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0E1B33"/>
                          </a:solidFill>
                          <a:latin typeface="Inter"/>
                          <a:ea typeface="Inter"/>
                          <a:cs typeface="Inter"/>
                        </a:rPr>
                        <a:t>Concentration in top-10 accounts (34% of ARR)</a:t>
                      </a:r>
                    </a:p>
                  </a:txBody>
                  <a:tcPr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</a:rPr>
                        <a:t>Named-account expansion plays owned by Customer Success Lead; two enterprise POCs underway.</a:t>
                      </a:r>
                    </a:p>
                  </a:txBody>
                  <a:tcPr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</a:tr>
              <a:tr h="822960"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0E1B33"/>
                          </a:solidFill>
                          <a:latin typeface="Inter"/>
                          <a:ea typeface="Inter"/>
                          <a:cs typeface="Inter"/>
                        </a:rPr>
                        <a:t>Attribution v3 migration for legacy tier</a:t>
                      </a:r>
                    </a:p>
                  </a:txBody>
                  <a:tcPr>
                    <a:solidFill>
                      <a:srgbClr val="F4F6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</a:rPr>
                        <a:t>Dedicated migration pod through 09/30/2026; weekly readout to CS Lead.</a:t>
                      </a:r>
                    </a:p>
                  </a:txBody>
                  <a:tcPr>
                    <a:solidFill>
                      <a:srgbClr val="F4F6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</a:tr>
              <a:tr h="822960"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0E1B33"/>
                          </a:solidFill>
                          <a:latin typeface="Inter"/>
                          <a:ea typeface="Inter"/>
                          <a:cs typeface="Inter"/>
                        </a:rPr>
                        <a:t>Sales capacity in EMEA time zones</a:t>
                      </a:r>
                    </a:p>
                  </a:txBody>
                  <a:tcPr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</a:rPr>
                        <a:t>New AE requisition scoped for late-Q3 start; contractor SDR backfill in place.</a:t>
                      </a:r>
                    </a:p>
                  </a:txBody>
                  <a:tcPr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</a:tr>
              <a:tr h="822960"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0E1B33"/>
                          </a:solidFill>
                          <a:latin typeface="Inter"/>
                          <a:ea typeface="Inter"/>
                          <a:cs typeface="Inter"/>
                        </a:rPr>
                        <a:t>Post-cutover HRIS operations</a:t>
                      </a:r>
                    </a:p>
                  </a:txBody>
                  <a:tcPr>
                    <a:solidFill>
                      <a:srgbClr val="F4F6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</a:rPr>
                        <a:t>People Operations Analyst starts 08/17/2026 to own ongoing reconciliation and reporting.</a:t>
                      </a:r>
                    </a:p>
                  </a:txBody>
                  <a:tcPr>
                    <a:solidFill>
                      <a:srgbClr val="F4F6FB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6350" cap="flat" cmpd="sng" algn="ctr">
                      <a:solidFill>
                        <a:srgbClr val="EEF1F6"/>
                      </a:solidFill>
                    </a:lnB>
                  </a:tcPr>
                </a:tc>
              </a:tr>
              <a:tr h="822960">
                <a:tc>
                  <a:txBody>
                    <a:bodyPr lIns="73152" rIns="73152" tIns="27432" bIns="27432"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0E1B33"/>
                          </a:solidFill>
                          <a:latin typeface="Inter"/>
                          <a:ea typeface="Inter"/>
                          <a:cs typeface="Inter"/>
                        </a:rPr>
                        <a:t>Hosting cost inflation</a:t>
                      </a:r>
                    </a:p>
                  </a:txBody>
                  <a:tcPr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2E7F0"/>
                      </a:solidFill>
                    </a:lnB>
                  </a:tcPr>
                </a:tc>
                <a:tc>
                  <a:txBody>
                    <a:bodyPr lIns="73152" rIns="73152" tIns="27432" bIns="27432"/>
                    <a:lstStyle/>
                    <a:p>
                      <a:pPr algn="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</a:rPr>
                        <a:t>Reserved-instance conversion in Q3; expected 9% unit-cost reduction.</a:t>
                      </a:r>
                    </a:p>
                  </a:txBody>
                  <a:tcPr>
                    <a:solidFill>
                      <a:srgbClr val="FFFFFF"/>
                    </a:solidFill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2E7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6446520"/>
            <a:ext cx="11277295" cy="6000"/>
          </a:xfrm>
          <a:prstGeom prst="rect">
            <a:avLst/>
          </a:prstGeom>
          <a:solidFill>
            <a:srgbClr val="E2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900">
                <a:solidFill>
                  <a:srgbClr val="5B6B86"/>
                </a:solidFill>
                <a:latin typeface="Inter"/>
                <a:ea typeface="Inter"/>
                <a:cs typeface="Inter"/>
              </a:rPr>
              <a:t>Troutly Analytics, Inc.  |  Board of Directors — July 2026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10528"/>
            <a:ext cx="1218895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>
                <a:solidFill>
                  <a:srgbClr val="5B6B86"/>
                </a:solidFill>
                <a:latin typeface="Inter"/>
                <a:ea typeface="Inter"/>
                <a:cs typeface="Inter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0E1B33"/>
                </a:solidFill>
                <a:latin typeface="Helvetica Neue"/>
                <a:ea typeface="Helvetica Neue"/>
                <a:cs typeface="Helvetica Neue"/>
              </a:rPr>
              <a:t>Q3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972800" cy="5029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1200"/>
              </a:spcBef>
              <a:spcAft>
                <a:spcPts val="200"/>
              </a:spcAft>
            </a:pPr>
            <a:r>
              <a:rPr sz="1600" b="1">
                <a:solidFill>
                  <a:srgbClr val="0E1B33"/>
                </a:solidFill>
                <a:latin typeface="Inter"/>
                <a:ea typeface="Inter"/>
                <a:cs typeface="Inter"/>
              </a:rPr>
              <a:t>1.  </a:t>
            </a:r>
            <a:r>
              <a:rPr sz="1600">
                <a:solidFill>
                  <a:srgbClr val="1F2937"/>
                </a:solidFill>
                <a:latin typeface="Inter"/>
                <a:ea typeface="Inter"/>
                <a:cs typeface="Inter"/>
              </a:rPr>
              <a:t>Close the five approved H2 roles by 09/30/2026.</a:t>
            </a:r>
          </a:p>
          <a:p>
            <a:pPr>
              <a:spcBef>
                <a:spcPts val="1200"/>
              </a:spcBef>
              <a:spcAft>
                <a:spcPts val="200"/>
              </a:spcAft>
            </a:pPr>
            <a:r>
              <a:rPr sz="1600" b="1">
                <a:solidFill>
                  <a:srgbClr val="0E1B33"/>
                </a:solidFill>
                <a:latin typeface="Inter"/>
                <a:ea typeface="Inter"/>
                <a:cs typeface="Inter"/>
              </a:rPr>
              <a:t>2.  </a:t>
            </a:r>
            <a:r>
              <a:rPr sz="1600">
                <a:solidFill>
                  <a:srgbClr val="1F2937"/>
                </a:solidFill>
                <a:latin typeface="Inter"/>
                <a:ea typeface="Inter"/>
                <a:cs typeface="Inter"/>
              </a:rPr>
              <a:t>Complete Attribution v3 migration for the remaining legacy tier customers.</a:t>
            </a:r>
          </a:p>
          <a:p>
            <a:pPr>
              <a:spcBef>
                <a:spcPts val="1200"/>
              </a:spcBef>
              <a:spcAft>
                <a:spcPts val="200"/>
              </a:spcAft>
            </a:pPr>
            <a:r>
              <a:rPr sz="1600" b="1">
                <a:solidFill>
                  <a:srgbClr val="0E1B33"/>
                </a:solidFill>
                <a:latin typeface="Inter"/>
                <a:ea typeface="Inter"/>
                <a:cs typeface="Inter"/>
              </a:rPr>
              <a:t>3.  </a:t>
            </a:r>
            <a:r>
              <a:rPr sz="1600">
                <a:solidFill>
                  <a:srgbClr val="1F2937"/>
                </a:solidFill>
                <a:latin typeface="Inter"/>
                <a:ea typeface="Inter"/>
                <a:cs typeface="Inter"/>
              </a:rPr>
              <a:t>Launch the refreshed reporting workspace to general availability.</a:t>
            </a:r>
          </a:p>
          <a:p>
            <a:pPr>
              <a:spcBef>
                <a:spcPts val="1200"/>
              </a:spcBef>
              <a:spcAft>
                <a:spcPts val="200"/>
              </a:spcAft>
            </a:pPr>
            <a:r>
              <a:rPr sz="1600" b="1">
                <a:solidFill>
                  <a:srgbClr val="0E1B33"/>
                </a:solidFill>
                <a:latin typeface="Inter"/>
                <a:ea typeface="Inter"/>
                <a:cs typeface="Inter"/>
              </a:rPr>
              <a:t>4.  </a:t>
            </a:r>
            <a:r>
              <a:rPr sz="1600">
                <a:solidFill>
                  <a:srgbClr val="1F2937"/>
                </a:solidFill>
                <a:latin typeface="Inter"/>
                <a:ea typeface="Inter"/>
                <a:cs typeface="Inter"/>
              </a:rPr>
              <a:t>Complete first full quarter of biweekly payroll on the new HRIS without exception.</a:t>
            </a:r>
          </a:p>
          <a:p>
            <a:pPr>
              <a:spcBef>
                <a:spcPts val="1200"/>
              </a:spcBef>
              <a:spcAft>
                <a:spcPts val="200"/>
              </a:spcAft>
            </a:pPr>
            <a:r>
              <a:rPr sz="1600" b="1">
                <a:solidFill>
                  <a:srgbClr val="0E1B33"/>
                </a:solidFill>
                <a:latin typeface="Inter"/>
                <a:ea typeface="Inter"/>
                <a:cs typeface="Inter"/>
              </a:rPr>
              <a:t>5.  </a:t>
            </a:r>
            <a:r>
              <a:rPr sz="1600">
                <a:solidFill>
                  <a:srgbClr val="1F2937"/>
                </a:solidFill>
                <a:latin typeface="Inter"/>
                <a:ea typeface="Inter"/>
                <a:cs typeface="Inter"/>
              </a:rPr>
              <a:t>Deliver Q3 new-logo bookings of $1,275,000.00 and NRR ≥ 110%.</a:t>
            </a:r>
          </a:p>
          <a:p>
            <a:pPr>
              <a:spcBef>
                <a:spcPts val="1200"/>
              </a:spcBef>
              <a:spcAft>
                <a:spcPts val="200"/>
              </a:spcAft>
            </a:pPr>
            <a:r>
              <a:rPr sz="1600" b="1">
                <a:solidFill>
                  <a:srgbClr val="0E1B33"/>
                </a:solidFill>
                <a:latin typeface="Inter"/>
                <a:ea typeface="Inter"/>
                <a:cs typeface="Inter"/>
              </a:rPr>
              <a:t>6.  </a:t>
            </a:r>
            <a:r>
              <a:rPr sz="1600">
                <a:solidFill>
                  <a:srgbClr val="1F2937"/>
                </a:solidFill>
                <a:latin typeface="Inter"/>
                <a:ea typeface="Inter"/>
                <a:cs typeface="Inter"/>
              </a:rPr>
              <a:t>Renew benefits for the 09/01/2026 plan year and complete the enrollment census by 09/12/2026.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7295" cy="6000"/>
          </a:xfrm>
          <a:prstGeom prst="rect">
            <a:avLst/>
          </a:prstGeom>
          <a:solidFill>
            <a:srgbClr val="E2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900">
                <a:solidFill>
                  <a:srgbClr val="5B6B86"/>
                </a:solidFill>
                <a:latin typeface="Inter"/>
                <a:ea typeface="Inter"/>
                <a:cs typeface="Inter"/>
              </a:rPr>
              <a:t>Troutly Analytics, Inc.  |  Board of Directors — July 2026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10528"/>
            <a:ext cx="1218895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>
                <a:solidFill>
                  <a:srgbClr val="5B6B86"/>
                </a:solidFill>
                <a:latin typeface="Inter"/>
                <a:ea typeface="Inter"/>
                <a:cs typeface="Inter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0E1B33"/>
                </a:solidFill>
                <a:latin typeface="Helvetica Neue"/>
                <a:ea typeface="Helvetica Neue"/>
                <a:cs typeface="Helvetica Neue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7295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1400" i="0">
                <a:solidFill>
                  <a:srgbClr val="5B6B86"/>
                </a:solidFill>
                <a:latin typeface="Inter"/>
                <a:ea typeface="Inter"/>
                <a:cs typeface="Inter"/>
              </a:rPr>
              <a:t>Backup materials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0E1B33"/>
                </a:solidFill>
                <a:latin typeface="Helvetica Neue"/>
                <a:ea typeface="Helvetica Neue"/>
                <a:cs typeface="Helvetica Neue"/>
              </a:rPr>
              <a:t>Supporting documents on the shared drive as of this meeting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1097280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50">
                <a:solidFill>
                  <a:srgbClr val="007A6A"/>
                </a:solidFill>
                <a:latin typeface="Inter"/>
                <a:ea typeface="Inter"/>
                <a:cs typeface="Inter"/>
              </a:rPr>
              <a:t>•  Board minutes of the 06/20/2026 meeting (Executive/Board)</a:t>
            </a:r>
            <a:r>
              <a:rPr sz="1350" b="0">
                <a:solidFill>
                  <a:srgbClr val="1F2937"/>
                </a:solidFill>
                <a:latin typeface="Inter"/>
                <a:ea typeface="Inter"/>
                <a:cs typeface="Inter"/>
              </a:rPr>
              <a:t/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50">
                <a:solidFill>
                  <a:srgbClr val="007A6A"/>
                </a:solidFill>
                <a:latin typeface="Inter"/>
                <a:ea typeface="Inter"/>
                <a:cs typeface="Inter"/>
              </a:rPr>
              <a:t>•  Board-approved Second-Half 2026 Hiring Plan, 06/20/2026 (Recruiting)</a:t>
            </a:r>
            <a:r>
              <a:rPr sz="1350" b="0">
                <a:solidFill>
                  <a:srgbClr val="1F2937"/>
                </a:solidFill>
                <a:latin typeface="Inter"/>
                <a:ea typeface="Inter"/>
                <a:cs typeface="Inter"/>
              </a:rPr>
              <a:t/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50">
                <a:solidFill>
                  <a:srgbClr val="007A6A"/>
                </a:solidFill>
                <a:latin typeface="Inter"/>
                <a:ea typeface="Inter"/>
                <a:cs typeface="Inter"/>
              </a:rPr>
              <a:t>•  Compensation Bands Memo, 07/15/2026 (HR/Comp)</a:t>
            </a:r>
            <a:r>
              <a:rPr sz="1350" b="0">
                <a:solidFill>
                  <a:srgbClr val="1F2937"/>
                </a:solidFill>
                <a:latin typeface="Inter"/>
                <a:ea typeface="Inter"/>
                <a:cs typeface="Inter"/>
              </a:rPr>
              <a:t/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50">
                <a:solidFill>
                  <a:srgbClr val="007A6A"/>
                </a:solidFill>
                <a:latin typeface="Inter"/>
                <a:ea typeface="Inter"/>
                <a:cs typeface="Inter"/>
              </a:rPr>
              <a:t>•  Payroll Procedures Memo, 06/25/2026 (HR/Payroll)</a:t>
            </a:r>
            <a:r>
              <a:rPr sz="1350" b="0">
                <a:solidFill>
                  <a:srgbClr val="1F2937"/>
                </a:solidFill>
                <a:latin typeface="Inter"/>
                <a:ea typeface="Inter"/>
                <a:cs typeface="Inter"/>
              </a:rPr>
              <a:t/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50">
                <a:solidFill>
                  <a:srgbClr val="007A6A"/>
                </a:solidFill>
                <a:latin typeface="Inter"/>
                <a:ea typeface="Inter"/>
                <a:cs typeface="Inter"/>
              </a:rPr>
              <a:t>•  PTO Policy Cutover Memo, 06/20/2026 (HR/Policies)</a:t>
            </a:r>
            <a:r>
              <a:rPr sz="1350" b="0">
                <a:solidFill>
                  <a:srgbClr val="1F2937"/>
                </a:solidFill>
                <a:latin typeface="Inter"/>
                <a:ea typeface="Inter"/>
                <a:cs typeface="Inter"/>
              </a:rPr>
              <a:t/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50">
                <a:solidFill>
                  <a:srgbClr val="007A6A"/>
                </a:solidFill>
                <a:latin typeface="Inter"/>
                <a:ea typeface="Inter"/>
                <a:cs typeface="Inter"/>
              </a:rPr>
              <a:t/>
            </a:r>
            <a:r>
              <a:rPr sz="1350" b="0">
                <a:solidFill>
                  <a:srgbClr val="1F2937"/>
                </a:solidFill>
                <a:latin typeface="Inter"/>
                <a:ea typeface="Inter"/>
                <a:cs typeface="Inter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623560"/>
            <a:ext cx="11247120" cy="6000"/>
          </a:xfrm>
          <a:prstGeom prst="rect">
            <a:avLst/>
          </a:prstGeom>
          <a:solidFill>
            <a:srgbClr val="E2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57200" y="57150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1F2937"/>
                </a:solidFill>
                <a:latin typeface="Inter"/>
                <a:ea typeface="Inter"/>
                <a:cs typeface="Inter"/>
              </a:rPr>
              <a:t>Prepared by Michael Labeson, CEO, and Krystale Jumawan, Finance Manager.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100" i="1">
                <a:solidFill>
                  <a:srgbClr val="5B6B86"/>
                </a:solidFill>
                <a:latin typeface="Inter"/>
                <a:ea typeface="Inter"/>
                <a:cs typeface="Inter"/>
              </a:rPr>
              <a:t>Troutly Analytics, Inc. — 2405 South Congress Avenue, Austin, TX 78704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46520"/>
            <a:ext cx="11277295" cy="6000"/>
          </a:xfrm>
          <a:prstGeom prst="rect">
            <a:avLst/>
          </a:prstGeom>
          <a:solidFill>
            <a:srgbClr val="E2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900">
                <a:solidFill>
                  <a:srgbClr val="5B6B86"/>
                </a:solidFill>
                <a:latin typeface="Inter"/>
                <a:ea typeface="Inter"/>
                <a:cs typeface="Inter"/>
              </a:rPr>
              <a:t>Troutly Analytics, Inc.  |  Board of Directors — July 2026  | 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10528"/>
            <a:ext cx="1218895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>
                <a:solidFill>
                  <a:srgbClr val="5B6B86"/>
                </a:solidFill>
                <a:latin typeface="Inter"/>
                <a:ea typeface="Inter"/>
                <a:cs typeface="Inter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16.0300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cp:keywords/>
  <dc:description/>
  <cp:revision>1</cp:revision>
  <cp:category/>
  <dc:creator xmlns:dc="http://purl.org/dc/elements/1.1/">Michael Labeson</dc:creator>
  <cp:lastModifiedBy>Michael Labeson</cp:lastModifiedBy>
</cp:coreProperties>
</file>